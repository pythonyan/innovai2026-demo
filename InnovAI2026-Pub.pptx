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  <p:sldMasterId id="2147483648" r:id="rId2"/>
  </p:sldMasterIdLst>
  <p:notesMasterIdLst>
    <p:notesMasterId r:id="rId35"/>
  </p:notesMasterIdLst>
  <p:handoutMasterIdLst>
    <p:handoutMasterId r:id="rId36"/>
  </p:handoutMasterIdLst>
  <p:sldIdLst>
    <p:sldId id="256" r:id="rId3"/>
    <p:sldId id="318" r:id="rId4"/>
    <p:sldId id="41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417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416" r:id="rId32"/>
    <p:sldId id="286" r:id="rId33"/>
    <p:sldId id="408" r:id="rId3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80B9"/>
    <a:srgbClr val="1B25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3" autoAdjust="0"/>
    <p:restoredTop sz="86504" autoAdjust="0"/>
  </p:normalViewPr>
  <p:slideViewPr>
    <p:cSldViewPr snapToGrid="0">
      <p:cViewPr varScale="1">
        <p:scale>
          <a:sx n="84" d="100"/>
          <a:sy n="84" d="100"/>
        </p:scale>
        <p:origin x="12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Parenzan" userId="a83bbb23f3e251dc" providerId="LiveId" clId="{5D234868-AD62-4683-8D45-4D00F848BDE7}"/>
    <pc:docChg chg="undo custSel modSld modMainMaster">
      <pc:chgData name="Marco Parenzan" userId="a83bbb23f3e251dc" providerId="LiveId" clId="{5D234868-AD62-4683-8D45-4D00F848BDE7}" dt="2026-07-28T10:58:58.623" v="143" actId="14100"/>
      <pc:docMkLst>
        <pc:docMk/>
      </pc:docMkLst>
      <pc:sldChg chg="addSp delSp modSp mod">
        <pc:chgData name="Marco Parenzan" userId="a83bbb23f3e251dc" providerId="LiveId" clId="{5D234868-AD62-4683-8D45-4D00F848BDE7}" dt="2026-07-28T10:52:02.719" v="78" actId="21"/>
        <pc:sldMkLst>
          <pc:docMk/>
          <pc:sldMk cId="333586773" sldId="259"/>
        </pc:sldMkLst>
        <pc:picChg chg="add del mod">
          <ac:chgData name="Marco Parenzan" userId="a83bbb23f3e251dc" providerId="LiveId" clId="{5D234868-AD62-4683-8D45-4D00F848BDE7}" dt="2026-07-28T10:52:02.719" v="78" actId="21"/>
          <ac:picMkLst>
            <pc:docMk/>
            <pc:sldMk cId="333586773" sldId="259"/>
            <ac:picMk id="4" creationId="{D80B529A-7299-FC5C-5AF2-40109CFE740B}"/>
          </ac:picMkLst>
        </pc:picChg>
      </pc:sldChg>
      <pc:sldChg chg="addSp delSp modSp mod">
        <pc:chgData name="Marco Parenzan" userId="a83bbb23f3e251dc" providerId="LiveId" clId="{5D234868-AD62-4683-8D45-4D00F848BDE7}" dt="2026-07-28T10:58:58.623" v="143" actId="14100"/>
        <pc:sldMkLst>
          <pc:docMk/>
          <pc:sldMk cId="2138703424" sldId="262"/>
        </pc:sldMkLst>
        <pc:spChg chg="add del mod">
          <ac:chgData name="Marco Parenzan" userId="a83bbb23f3e251dc" providerId="LiveId" clId="{5D234868-AD62-4683-8D45-4D00F848BDE7}" dt="2026-07-28T10:58:21.304" v="127" actId="21"/>
          <ac:spMkLst>
            <pc:docMk/>
            <pc:sldMk cId="2138703424" sldId="262"/>
            <ac:spMk id="2" creationId="{44C7F615-5987-690B-7262-B2C3CEF8CCD0}"/>
          </ac:spMkLst>
        </pc:spChg>
        <pc:spChg chg="add del mod">
          <ac:chgData name="Marco Parenzan" userId="a83bbb23f3e251dc" providerId="LiveId" clId="{5D234868-AD62-4683-8D45-4D00F848BDE7}" dt="2026-07-28T10:58:36.499" v="136" actId="21"/>
          <ac:spMkLst>
            <pc:docMk/>
            <pc:sldMk cId="2138703424" sldId="262"/>
            <ac:spMk id="4" creationId="{9B7F7EEE-881C-AAC8-F12E-BC70DA38D888}"/>
          </ac:spMkLst>
        </pc:spChg>
        <pc:picChg chg="add mod modCrop">
          <ac:chgData name="Marco Parenzan" userId="a83bbb23f3e251dc" providerId="LiveId" clId="{5D234868-AD62-4683-8D45-4D00F848BDE7}" dt="2026-07-28T10:58:58.623" v="143" actId="14100"/>
          <ac:picMkLst>
            <pc:docMk/>
            <pc:sldMk cId="2138703424" sldId="262"/>
            <ac:picMk id="6" creationId="{53E0EDDD-EA60-F92E-73FC-9B42347E2D2B}"/>
          </ac:picMkLst>
        </pc:picChg>
      </pc:sldChg>
      <pc:sldMasterChg chg="addSp delSp modSp mod modSldLayout">
        <pc:chgData name="Marco Parenzan" userId="a83bbb23f3e251dc" providerId="LiveId" clId="{5D234868-AD62-4683-8D45-4D00F848BDE7}" dt="2026-07-28T10:52:43.536" v="97" actId="1076"/>
        <pc:sldMasterMkLst>
          <pc:docMk/>
          <pc:sldMasterMk cId="3901749198" sldId="2147483648"/>
        </pc:sldMasterMkLst>
        <pc:picChg chg="add">
          <ac:chgData name="Marco Parenzan" userId="a83bbb23f3e251dc" providerId="LiveId" clId="{5D234868-AD62-4683-8D45-4D00F848BDE7}" dt="2026-07-22T22:27:23.088" v="2" actId="22"/>
          <ac:picMkLst>
            <pc:docMk/>
            <pc:sldMasterMk cId="3901749198" sldId="2147483648"/>
            <ac:picMk id="5" creationId="{8ECF1ECF-9408-8D15-6611-73B6DFF603B8}"/>
          </ac:picMkLst>
        </pc:picChg>
        <pc:picChg chg="add mod">
          <ac:chgData name="Marco Parenzan" userId="a83bbb23f3e251dc" providerId="LiveId" clId="{5D234868-AD62-4683-8D45-4D00F848BDE7}" dt="2026-07-28T10:52:43.536" v="97" actId="1076"/>
          <ac:picMkLst>
            <pc:docMk/>
            <pc:sldMasterMk cId="3901749198" sldId="2147483648"/>
            <ac:picMk id="6" creationId="{35792CD8-50C5-44E3-C959-55D495A1F8B3}"/>
          </ac:picMkLst>
        </pc:picChg>
        <pc:picChg chg="add mod">
          <ac:chgData name="Marco Parenzan" userId="a83bbb23f3e251dc" providerId="LiveId" clId="{5D234868-AD62-4683-8D45-4D00F848BDE7}" dt="2026-07-28T10:52:29.952" v="89" actId="1076"/>
          <ac:picMkLst>
            <pc:docMk/>
            <pc:sldMasterMk cId="3901749198" sldId="2147483648"/>
            <ac:picMk id="7" creationId="{E8DCBA60-C801-845D-F974-5BEF111B5867}"/>
          </ac:picMkLst>
        </pc:picChg>
        <pc:sldLayoutChg chg="modSp mod">
          <pc:chgData name="Marco Parenzan" userId="a83bbb23f3e251dc" providerId="LiveId" clId="{5D234868-AD62-4683-8D45-4D00F848BDE7}" dt="2026-07-22T22:31:37.979" v="74" actId="20577"/>
          <pc:sldLayoutMkLst>
            <pc:docMk/>
            <pc:sldMasterMk cId="3901749198" sldId="2147483648"/>
            <pc:sldLayoutMk cId="4037332946" sldId="2147483663"/>
          </pc:sldLayoutMkLst>
          <pc:spChg chg="mod">
            <ac:chgData name="Marco Parenzan" userId="a83bbb23f3e251dc" providerId="LiveId" clId="{5D234868-AD62-4683-8D45-4D00F848BDE7}" dt="2026-07-22T22:31:37.979" v="74" actId="20577"/>
            <ac:spMkLst>
              <pc:docMk/>
              <pc:sldMasterMk cId="3901749198" sldId="2147483648"/>
              <pc:sldLayoutMk cId="4037332946" sldId="2147483663"/>
              <ac:spMk id="3" creationId="{94AB9AEA-CF7C-AEA3-4992-A53A4A3481E7}"/>
            </ac:spMkLst>
          </pc:spChg>
        </pc:sldLayoutChg>
      </pc:sldMasterChg>
      <pc:sldMasterChg chg="modSldLayout">
        <pc:chgData name="Marco Parenzan" userId="a83bbb23f3e251dc" providerId="LiveId" clId="{5D234868-AD62-4683-8D45-4D00F848BDE7}" dt="2026-07-28T10:53:57.577" v="119" actId="22"/>
        <pc:sldMasterMkLst>
          <pc:docMk/>
          <pc:sldMasterMk cId="1642139397" sldId="2147483656"/>
        </pc:sldMasterMkLst>
        <pc:sldLayoutChg chg="addSp delSp modSp mod">
          <pc:chgData name="Marco Parenzan" userId="a83bbb23f3e251dc" providerId="LiveId" clId="{5D234868-AD62-4683-8D45-4D00F848BDE7}" dt="2026-07-28T10:53:46.470" v="115" actId="12789"/>
          <pc:sldLayoutMkLst>
            <pc:docMk/>
            <pc:sldMasterMk cId="1642139397" sldId="2147483656"/>
            <pc:sldLayoutMk cId="1443826280" sldId="2147483657"/>
          </pc:sldLayoutMkLst>
          <pc:picChg chg="mod">
            <ac:chgData name="Marco Parenzan" userId="a83bbb23f3e251dc" providerId="LiveId" clId="{5D234868-AD62-4683-8D45-4D00F848BDE7}" dt="2026-07-28T10:53:46.470" v="115" actId="12789"/>
            <ac:picMkLst>
              <pc:docMk/>
              <pc:sldMasterMk cId="1642139397" sldId="2147483656"/>
              <pc:sldLayoutMk cId="1443826280" sldId="2147483657"/>
              <ac:picMk id="4" creationId="{985113A5-DD14-41C6-D0CF-7E0455CED303}"/>
            </ac:picMkLst>
          </pc:picChg>
          <pc:picChg chg="ord">
            <ac:chgData name="Marco Parenzan" userId="a83bbb23f3e251dc" providerId="LiveId" clId="{5D234868-AD62-4683-8D45-4D00F848BDE7}" dt="2026-07-22T22:29:13.239" v="24" actId="167"/>
            <ac:picMkLst>
              <pc:docMk/>
              <pc:sldMasterMk cId="1642139397" sldId="2147483656"/>
              <pc:sldLayoutMk cId="1443826280" sldId="2147483657"/>
              <ac:picMk id="5" creationId="{3A332998-FE20-AD9F-C8B7-B122948EA76D}"/>
            </ac:picMkLst>
          </pc:picChg>
          <pc:picChg chg="add mod">
            <ac:chgData name="Marco Parenzan" userId="a83bbb23f3e251dc" providerId="LiveId" clId="{5D234868-AD62-4683-8D45-4D00F848BDE7}" dt="2026-07-28T10:53:46.470" v="115" actId="12789"/>
            <ac:picMkLst>
              <pc:docMk/>
              <pc:sldMasterMk cId="1642139397" sldId="2147483656"/>
              <pc:sldLayoutMk cId="1443826280" sldId="2147483657"/>
              <ac:picMk id="7" creationId="{BBE21080-2E0C-87CC-621B-229CF116B65F}"/>
            </ac:picMkLst>
          </pc:picChg>
          <pc:picChg chg="add mod">
            <ac:chgData name="Marco Parenzan" userId="a83bbb23f3e251dc" providerId="LiveId" clId="{5D234868-AD62-4683-8D45-4D00F848BDE7}" dt="2026-07-28T10:53:46.470" v="115" actId="12789"/>
            <ac:picMkLst>
              <pc:docMk/>
              <pc:sldMasterMk cId="1642139397" sldId="2147483656"/>
              <pc:sldLayoutMk cId="1443826280" sldId="2147483657"/>
              <ac:picMk id="8" creationId="{F6B07E5B-AB6C-E168-2EAE-06637910F525}"/>
            </ac:picMkLst>
          </pc:picChg>
          <pc:picChg chg="add mod">
            <ac:chgData name="Marco Parenzan" userId="a83bbb23f3e251dc" providerId="LiveId" clId="{5D234868-AD62-4683-8D45-4D00F848BDE7}" dt="2026-07-28T10:53:46.470" v="115" actId="12789"/>
            <ac:picMkLst>
              <pc:docMk/>
              <pc:sldMasterMk cId="1642139397" sldId="2147483656"/>
              <pc:sldLayoutMk cId="1443826280" sldId="2147483657"/>
              <ac:picMk id="9" creationId="{2CAAEFDA-1DD6-4A29-1688-306BAE7BEB73}"/>
            </ac:picMkLst>
          </pc:picChg>
          <pc:picChg chg="add mod modCrop">
            <ac:chgData name="Marco Parenzan" userId="a83bbb23f3e251dc" providerId="LiveId" clId="{5D234868-AD62-4683-8D45-4D00F848BDE7}" dt="2026-07-22T22:30:55.138" v="62" actId="1076"/>
            <ac:picMkLst>
              <pc:docMk/>
              <pc:sldMasterMk cId="1642139397" sldId="2147483656"/>
              <pc:sldLayoutMk cId="1443826280" sldId="2147483657"/>
              <ac:picMk id="13" creationId="{B564FF1B-4407-88CF-4098-02DBF5337954}"/>
            </ac:picMkLst>
          </pc:picChg>
        </pc:sldLayoutChg>
        <pc:sldLayoutChg chg="addSp delSp modSp mod">
          <pc:chgData name="Marco Parenzan" userId="a83bbb23f3e251dc" providerId="LiveId" clId="{5D234868-AD62-4683-8D45-4D00F848BDE7}" dt="2026-07-28T10:53:53.902" v="117" actId="22"/>
          <pc:sldLayoutMkLst>
            <pc:docMk/>
            <pc:sldMasterMk cId="1642139397" sldId="2147483656"/>
            <pc:sldLayoutMk cId="2478058371" sldId="2147483659"/>
          </pc:sldLayoutMkLst>
          <pc:picChg chg="del">
            <ac:chgData name="Marco Parenzan" userId="a83bbb23f3e251dc" providerId="LiveId" clId="{5D234868-AD62-4683-8D45-4D00F848BDE7}" dt="2026-07-28T10:53:53.697" v="116" actId="478"/>
            <ac:picMkLst>
              <pc:docMk/>
              <pc:sldMasterMk cId="1642139397" sldId="2147483656"/>
              <pc:sldLayoutMk cId="2478058371" sldId="2147483659"/>
              <ac:picMk id="5" creationId="{BF552489-C827-957D-A07D-61BA502E3129}"/>
            </ac:picMkLst>
          </pc:picChg>
          <pc:picChg chg="del">
            <ac:chgData name="Marco Parenzan" userId="a83bbb23f3e251dc" providerId="LiveId" clId="{5D234868-AD62-4683-8D45-4D00F848BDE7}" dt="2026-07-28T10:53:28.436" v="110" actId="478"/>
            <ac:picMkLst>
              <pc:docMk/>
              <pc:sldMasterMk cId="1642139397" sldId="2147483656"/>
              <pc:sldLayoutMk cId="2478058371" sldId="2147483659"/>
              <ac:picMk id="6" creationId="{159EAC0F-FE5A-7BE9-C41B-9F03AC1FCCC3}"/>
            </ac:picMkLst>
          </pc:picChg>
          <pc:picChg chg="add mod">
            <ac:chgData name="Marco Parenzan" userId="a83bbb23f3e251dc" providerId="LiveId" clId="{5D234868-AD62-4683-8D45-4D00F848BDE7}" dt="2026-07-22T22:31:12.964" v="66" actId="1076"/>
            <ac:picMkLst>
              <pc:docMk/>
              <pc:sldMasterMk cId="1642139397" sldId="2147483656"/>
              <pc:sldLayoutMk cId="2478058371" sldId="2147483659"/>
              <ac:picMk id="8" creationId="{2A718420-8710-4E04-1D4C-7E6253734CE4}"/>
            </ac:picMkLst>
          </pc:picChg>
          <pc:picChg chg="add">
            <ac:chgData name="Marco Parenzan" userId="a83bbb23f3e251dc" providerId="LiveId" clId="{5D234868-AD62-4683-8D45-4D00F848BDE7}" dt="2026-07-28T10:53:53.902" v="117" actId="22"/>
            <ac:picMkLst>
              <pc:docMk/>
              <pc:sldMasterMk cId="1642139397" sldId="2147483656"/>
              <pc:sldLayoutMk cId="2478058371" sldId="2147483659"/>
              <ac:picMk id="9" creationId="{4CB40BAD-FAC7-7B5C-A2E6-100E0C6E7D2E}"/>
            </ac:picMkLst>
          </pc:picChg>
          <pc:picChg chg="add">
            <ac:chgData name="Marco Parenzan" userId="a83bbb23f3e251dc" providerId="LiveId" clId="{5D234868-AD62-4683-8D45-4D00F848BDE7}" dt="2026-07-28T10:53:53.902" v="117" actId="22"/>
            <ac:picMkLst>
              <pc:docMk/>
              <pc:sldMasterMk cId="1642139397" sldId="2147483656"/>
              <pc:sldLayoutMk cId="2478058371" sldId="2147483659"/>
              <ac:picMk id="11" creationId="{2A5A3526-BFC2-FC5F-766D-E473F2631C20}"/>
            </ac:picMkLst>
          </pc:picChg>
          <pc:picChg chg="add">
            <ac:chgData name="Marco Parenzan" userId="a83bbb23f3e251dc" providerId="LiveId" clId="{5D234868-AD62-4683-8D45-4D00F848BDE7}" dt="2026-07-28T10:53:53.902" v="117" actId="22"/>
            <ac:picMkLst>
              <pc:docMk/>
              <pc:sldMasterMk cId="1642139397" sldId="2147483656"/>
              <pc:sldLayoutMk cId="2478058371" sldId="2147483659"/>
              <ac:picMk id="13" creationId="{1A31FBB9-95C1-26EA-714B-379B987CE9E9}"/>
            </ac:picMkLst>
          </pc:picChg>
          <pc:picChg chg="add">
            <ac:chgData name="Marco Parenzan" userId="a83bbb23f3e251dc" providerId="LiveId" clId="{5D234868-AD62-4683-8D45-4D00F848BDE7}" dt="2026-07-28T10:53:53.902" v="117" actId="22"/>
            <ac:picMkLst>
              <pc:docMk/>
              <pc:sldMasterMk cId="1642139397" sldId="2147483656"/>
              <pc:sldLayoutMk cId="2478058371" sldId="2147483659"/>
              <ac:picMk id="15" creationId="{3D642E17-6FB4-0487-816C-B2DF9487B809}"/>
            </ac:picMkLst>
          </pc:picChg>
        </pc:sldLayoutChg>
        <pc:sldLayoutChg chg="addSp delSp mod">
          <pc:chgData name="Marco Parenzan" userId="a83bbb23f3e251dc" providerId="LiveId" clId="{5D234868-AD62-4683-8D45-4D00F848BDE7}" dt="2026-07-28T10:53:57.577" v="119" actId="22"/>
          <pc:sldLayoutMkLst>
            <pc:docMk/>
            <pc:sldMasterMk cId="1642139397" sldId="2147483656"/>
            <pc:sldLayoutMk cId="3044537947" sldId="2147483660"/>
          </pc:sldLayoutMkLst>
          <pc:picChg chg="add">
            <ac:chgData name="Marco Parenzan" userId="a83bbb23f3e251dc" providerId="LiveId" clId="{5D234868-AD62-4683-8D45-4D00F848BDE7}" dt="2026-07-22T22:31:15.178" v="67" actId="22"/>
            <ac:picMkLst>
              <pc:docMk/>
              <pc:sldMasterMk cId="1642139397" sldId="2147483656"/>
              <pc:sldLayoutMk cId="3044537947" sldId="2147483660"/>
              <ac:picMk id="4" creationId="{5ECFF343-FC71-0874-141A-1219EBAC1019}"/>
            </ac:picMkLst>
          </pc:picChg>
          <pc:picChg chg="add">
            <ac:chgData name="Marco Parenzan" userId="a83bbb23f3e251dc" providerId="LiveId" clId="{5D234868-AD62-4683-8D45-4D00F848BDE7}" dt="2026-07-28T10:53:57.577" v="119" actId="22"/>
            <ac:picMkLst>
              <pc:docMk/>
              <pc:sldMasterMk cId="1642139397" sldId="2147483656"/>
              <pc:sldLayoutMk cId="3044537947" sldId="2147483660"/>
              <ac:picMk id="6" creationId="{97E59BEA-6962-B718-DA69-CB6353513035}"/>
            </ac:picMkLst>
          </pc:picChg>
          <pc:picChg chg="del">
            <ac:chgData name="Marco Parenzan" userId="a83bbb23f3e251dc" providerId="LiveId" clId="{5D234868-AD62-4683-8D45-4D00F848BDE7}" dt="2026-07-28T10:53:56.763" v="118" actId="478"/>
            <ac:picMkLst>
              <pc:docMk/>
              <pc:sldMasterMk cId="1642139397" sldId="2147483656"/>
              <pc:sldLayoutMk cId="3044537947" sldId="2147483660"/>
              <ac:picMk id="7" creationId="{283582EF-FDAA-7917-ABDB-40DD3ECECC79}"/>
            </ac:picMkLst>
          </pc:picChg>
          <pc:picChg chg="del">
            <ac:chgData name="Marco Parenzan" userId="a83bbb23f3e251dc" providerId="LiveId" clId="{5D234868-AD62-4683-8D45-4D00F848BDE7}" dt="2026-07-28T10:53:30.946" v="111" actId="478"/>
            <ac:picMkLst>
              <pc:docMk/>
              <pc:sldMasterMk cId="1642139397" sldId="2147483656"/>
              <pc:sldLayoutMk cId="3044537947" sldId="2147483660"/>
              <ac:picMk id="8" creationId="{122A1A4A-3112-D9FB-94B3-6A9B144D5CC8}"/>
            </ac:picMkLst>
          </pc:picChg>
          <pc:picChg chg="add">
            <ac:chgData name="Marco Parenzan" userId="a83bbb23f3e251dc" providerId="LiveId" clId="{5D234868-AD62-4683-8D45-4D00F848BDE7}" dt="2026-07-28T10:53:57.577" v="119" actId="22"/>
            <ac:picMkLst>
              <pc:docMk/>
              <pc:sldMasterMk cId="1642139397" sldId="2147483656"/>
              <pc:sldLayoutMk cId="3044537947" sldId="2147483660"/>
              <ac:picMk id="10" creationId="{95A4788F-D708-EE0C-EA21-AFBF25B7CB55}"/>
            </ac:picMkLst>
          </pc:picChg>
          <pc:picChg chg="add">
            <ac:chgData name="Marco Parenzan" userId="a83bbb23f3e251dc" providerId="LiveId" clId="{5D234868-AD62-4683-8D45-4D00F848BDE7}" dt="2026-07-28T10:53:57.577" v="119" actId="22"/>
            <ac:picMkLst>
              <pc:docMk/>
              <pc:sldMasterMk cId="1642139397" sldId="2147483656"/>
              <pc:sldLayoutMk cId="3044537947" sldId="2147483660"/>
              <ac:picMk id="12" creationId="{7784792C-02ED-FEAB-248C-DCAC237B6374}"/>
            </ac:picMkLst>
          </pc:picChg>
          <pc:picChg chg="add">
            <ac:chgData name="Marco Parenzan" userId="a83bbb23f3e251dc" providerId="LiveId" clId="{5D234868-AD62-4683-8D45-4D00F848BDE7}" dt="2026-07-28T10:53:57.577" v="119" actId="22"/>
            <ac:picMkLst>
              <pc:docMk/>
              <pc:sldMasterMk cId="1642139397" sldId="2147483656"/>
              <pc:sldLayoutMk cId="3044537947" sldId="2147483660"/>
              <ac:picMk id="14" creationId="{383BD2B7-3AD3-A11B-1B7A-59AC8ADB43E9}"/>
            </ac:picMkLst>
          </pc:picChg>
        </pc:sldLayoutChg>
        <pc:sldLayoutChg chg="addSp delSp modSp mod">
          <pc:chgData name="Marco Parenzan" userId="a83bbb23f3e251dc" providerId="LiveId" clId="{5D234868-AD62-4683-8D45-4D00F848BDE7}" dt="2026-07-28T10:52:56.257" v="101" actId="1076"/>
          <pc:sldLayoutMkLst>
            <pc:docMk/>
            <pc:sldMasterMk cId="1642139397" sldId="2147483656"/>
            <pc:sldLayoutMk cId="2643064719" sldId="2147483662"/>
          </pc:sldLayoutMkLst>
          <pc:picChg chg="add mod">
            <ac:chgData name="Marco Parenzan" userId="a83bbb23f3e251dc" providerId="LiveId" clId="{5D234868-AD62-4683-8D45-4D00F848BDE7}" dt="2026-07-28T10:52:56.257" v="101" actId="1076"/>
            <ac:picMkLst>
              <pc:docMk/>
              <pc:sldMasterMk cId="1642139397" sldId="2147483656"/>
              <pc:sldLayoutMk cId="2643064719" sldId="2147483662"/>
              <ac:picMk id="3" creationId="{64E909C6-DF0D-DE15-8B93-92695214ECED}"/>
            </ac:picMkLst>
          </pc:picChg>
          <pc:picChg chg="add mod modCrop">
            <ac:chgData name="Marco Parenzan" userId="a83bbb23f3e251dc" providerId="LiveId" clId="{5D234868-AD62-4683-8D45-4D00F848BDE7}" dt="2026-07-28T10:52:53.103" v="100" actId="1076"/>
            <ac:picMkLst>
              <pc:docMk/>
              <pc:sldMasterMk cId="1642139397" sldId="2147483656"/>
              <pc:sldLayoutMk cId="2643064719" sldId="2147483662"/>
              <ac:picMk id="4" creationId="{E23C5F0A-A16B-1A40-47EF-E16B206B618F}"/>
            </ac:picMkLst>
          </pc:picChg>
          <pc:picChg chg="add mod">
            <ac:chgData name="Marco Parenzan" userId="a83bbb23f3e251dc" providerId="LiveId" clId="{5D234868-AD62-4683-8D45-4D00F848BDE7}" dt="2026-07-28T10:52:07.712" v="80" actId="1076"/>
            <ac:picMkLst>
              <pc:docMk/>
              <pc:sldMasterMk cId="1642139397" sldId="2147483656"/>
              <pc:sldLayoutMk cId="2643064719" sldId="2147483662"/>
              <ac:picMk id="6" creationId="{963216CC-5A04-9AF1-8CD2-A6030DAA2D9E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04906A8-A64A-4494-0654-6895A20F3B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210FB0-5A8D-505A-6A75-706FE6E300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700839-1292-4A7E-9E68-CEF90B81A78E}" type="datetimeFigureOut">
              <a:rPr lang="it-IT" smtClean="0"/>
              <a:t>28/09/2026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7259-E604-1FBB-58E3-3390C87E74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83E895-B45D-3CDB-3D80-DC2507128C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D8E80-87F9-43CA-8BD3-ADB72F74BE3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69233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4835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2AFD5E-E760-4D15-9C43-2015EAE50812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8819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BDE81AD-AC8B-226D-99E3-9D1CD2F17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 dirty="0"/>
          </a:p>
          <a:p>
            <a:endParaRPr dirty="0"/>
          </a:p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it-IT"/>
          </a:p>
          <a:p>
            <a:endParaRPr b="1" dirty="0"/>
          </a:p>
          <a:p>
            <a:endParaRPr lang="it-IT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lang="it-IT"/>
          </a:p>
          <a:p>
            <a:endParaRPr b="1" dirty="0"/>
          </a:p>
          <a:p>
            <a:endParaRPr lang="it-IT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lang="it-IT" dirty="0"/>
          </a:p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it-IT" dirty="0"/>
          </a:p>
          <a:p>
            <a:endParaRPr lang="it-IT" dirty="0"/>
          </a:p>
          <a:p>
            <a:endParaRPr lang="it-IT"/>
          </a:p>
          <a:p>
            <a:endParaRPr lang="it-IT" b="1" dirty="0"/>
          </a:p>
          <a:p>
            <a:endParaRPr lang="it-IT" b="1"/>
          </a:p>
          <a:p>
            <a:endParaRPr lang="it-IT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b="1"/>
          </a:p>
          <a:p>
            <a:endParaRPr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A332998-FE20-AD9F-C8B7-B122948EA7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1698" y="-426973"/>
            <a:ext cx="5188604" cy="345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D9DD61-3B4B-791E-A288-1D4E098CF4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974" y="2569514"/>
            <a:ext cx="11841348" cy="1522768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4F4FCB-C4EB-FA0D-F4B2-D33F1CFB1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974" y="4211426"/>
            <a:ext cx="11841348" cy="73361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5113A5-DD14-41C6-D0CF-7E0455CED3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8974" y="5768964"/>
            <a:ext cx="2195378" cy="8315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E21080-2E0C-87CC-621B-229CF116B6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505" y="5898410"/>
            <a:ext cx="3662682" cy="959590"/>
          </a:xfrm>
          <a:prstGeom prst="rect">
            <a:avLst/>
          </a:prstGeom>
        </p:spPr>
      </p:pic>
      <p:pic>
        <p:nvPicPr>
          <p:cNvPr id="9" name="Picture 2" descr="Deutsch">
            <a:extLst>
              <a:ext uri="{FF2B5EF4-FFF2-40B4-BE49-F238E27FC236}">
                <a16:creationId xmlns:a16="http://schemas.microsoft.com/office/drawing/2014/main" id="{2CAAEFDA-1DD6-4A29-1688-306BAE7BEB7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2" r="11546"/>
          <a:stretch/>
        </p:blipFill>
        <p:spPr bwMode="auto">
          <a:xfrm>
            <a:off x="4067760" y="5714920"/>
            <a:ext cx="2185816" cy="115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64FF1B-4407-88CF-4098-02DBF533795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27280" t="23642" r="27655" b="39536"/>
          <a:stretch>
            <a:fillRect/>
          </a:stretch>
        </p:blipFill>
        <p:spPr>
          <a:xfrm>
            <a:off x="6951216" y="1827120"/>
            <a:ext cx="1313895" cy="5128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B07E5B-AB6C-E168-2EAE-06637910F52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 b="44560"/>
          <a:stretch>
            <a:fillRect/>
          </a:stretch>
        </p:blipFill>
        <p:spPr>
          <a:xfrm>
            <a:off x="6606238" y="6184715"/>
            <a:ext cx="1785606" cy="38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826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D8A27-81CB-1DE6-67EB-65531BEAF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924" y="2336365"/>
            <a:ext cx="11707264" cy="1583086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77E01-9328-162F-0D77-62F4E6BFA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924" y="4072380"/>
            <a:ext cx="11707264" cy="7651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947206-C777-2051-39AD-501E59C93C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296" y="-256954"/>
            <a:ext cx="3341408" cy="22276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718420-8710-4E04-1D4C-7E6253734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7280" t="23642" r="27655" b="39536"/>
          <a:stretch>
            <a:fillRect/>
          </a:stretch>
        </p:blipFill>
        <p:spPr>
          <a:xfrm>
            <a:off x="6665874" y="1162557"/>
            <a:ext cx="800738" cy="3125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B40BAD-FAC7-7B5C-A2E6-100E0C6E7D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8974" y="5768964"/>
            <a:ext cx="2195378" cy="8315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5A3526-BFC2-FC5F-766D-E473F2631C2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505" y="5898410"/>
            <a:ext cx="3662682" cy="959590"/>
          </a:xfrm>
          <a:prstGeom prst="rect">
            <a:avLst/>
          </a:prstGeom>
        </p:spPr>
      </p:pic>
      <p:pic>
        <p:nvPicPr>
          <p:cNvPr id="13" name="Picture 2" descr="Deutsch">
            <a:extLst>
              <a:ext uri="{FF2B5EF4-FFF2-40B4-BE49-F238E27FC236}">
                <a16:creationId xmlns:a16="http://schemas.microsoft.com/office/drawing/2014/main" id="{1A31FBB9-95C1-26EA-714B-379B987CE9E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2" r="11546"/>
          <a:stretch/>
        </p:blipFill>
        <p:spPr bwMode="auto">
          <a:xfrm>
            <a:off x="4067760" y="5714920"/>
            <a:ext cx="2185816" cy="115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D642E17-6FB4-0487-816C-B2DF9487B80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 b="44560"/>
          <a:stretch>
            <a:fillRect/>
          </a:stretch>
        </p:blipFill>
        <p:spPr>
          <a:xfrm>
            <a:off x="6606238" y="6184715"/>
            <a:ext cx="1785606" cy="38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058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8A769-0733-E91B-A402-21DD319B4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1406" y="2891508"/>
            <a:ext cx="10515600" cy="1325563"/>
          </a:xfrm>
          <a:prstGeom prst="rect">
            <a:avLst/>
          </a:prstGeom>
        </p:spPr>
        <p:txBody>
          <a:bodyPr anchor="ctr"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DEMO</a:t>
            </a:r>
            <a:endParaRPr lang="it-I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929FF4-8E52-4BE4-4128-D3CFE846C1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5296" y="-256954"/>
            <a:ext cx="3341408" cy="22276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CFF343-FC71-0874-141A-1219EBAC101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7280" t="23642" r="27655" b="39536"/>
          <a:stretch>
            <a:fillRect/>
          </a:stretch>
        </p:blipFill>
        <p:spPr>
          <a:xfrm>
            <a:off x="6665874" y="1162557"/>
            <a:ext cx="800738" cy="3125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E59BEA-6962-B718-DA69-CB635351303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8974" y="5768964"/>
            <a:ext cx="2195378" cy="8315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A4788F-D708-EE0C-EA21-AFBF25B7CB5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505" y="5898410"/>
            <a:ext cx="3662682" cy="959590"/>
          </a:xfrm>
          <a:prstGeom prst="rect">
            <a:avLst/>
          </a:prstGeom>
        </p:spPr>
      </p:pic>
      <p:pic>
        <p:nvPicPr>
          <p:cNvPr id="12" name="Picture 2" descr="Deutsch">
            <a:extLst>
              <a:ext uri="{FF2B5EF4-FFF2-40B4-BE49-F238E27FC236}">
                <a16:creationId xmlns:a16="http://schemas.microsoft.com/office/drawing/2014/main" id="{7784792C-02ED-FEAB-248C-DCAC237B637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2" r="11546"/>
          <a:stretch/>
        </p:blipFill>
        <p:spPr bwMode="auto">
          <a:xfrm>
            <a:off x="4067760" y="5714920"/>
            <a:ext cx="2185816" cy="115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3BD2B7-3AD3-A11B-1B7A-59AC8ADB43E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 b="44560"/>
          <a:stretch>
            <a:fillRect/>
          </a:stretch>
        </p:blipFill>
        <p:spPr>
          <a:xfrm>
            <a:off x="6606238" y="6184715"/>
            <a:ext cx="1785606" cy="38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537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onsor"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093F780-3792-B716-DF8B-9B207C021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SPONSOR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E909C6-DF0D-DE15-8B93-92695214EC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680" y="3559717"/>
            <a:ext cx="2942997" cy="771039"/>
          </a:xfrm>
          <a:prstGeom prst="rect">
            <a:avLst/>
          </a:prstGeom>
        </p:spPr>
      </p:pic>
      <p:pic>
        <p:nvPicPr>
          <p:cNvPr id="6" name="Picture 2" descr="Deutsch">
            <a:extLst>
              <a:ext uri="{FF2B5EF4-FFF2-40B4-BE49-F238E27FC236}">
                <a16:creationId xmlns:a16="http://schemas.microsoft.com/office/drawing/2014/main" id="{963216CC-5A04-9AF1-8CD2-A6030DAA2D9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2" r="11546"/>
          <a:stretch/>
        </p:blipFill>
        <p:spPr bwMode="auto">
          <a:xfrm>
            <a:off x="1198323" y="3222650"/>
            <a:ext cx="2478065" cy="13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3C5F0A-A16B-1A40-47EF-E16B206B618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b="44560"/>
          <a:stretch>
            <a:fillRect/>
          </a:stretch>
        </p:blipFill>
        <p:spPr>
          <a:xfrm>
            <a:off x="5121223" y="3751748"/>
            <a:ext cx="1785606" cy="38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064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16D2B-C7E7-AC57-698C-F37209A39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980B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552F5-BBAC-AE05-EB57-8B3ACC70F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2980B9"/>
                </a:solidFill>
              </a:defRPr>
            </a:lvl1pPr>
            <a:lvl2pPr>
              <a:defRPr>
                <a:solidFill>
                  <a:srgbClr val="2980B9"/>
                </a:solidFill>
              </a:defRPr>
            </a:lvl2pPr>
            <a:lvl3pPr>
              <a:defRPr>
                <a:solidFill>
                  <a:srgbClr val="2980B9"/>
                </a:solidFill>
              </a:defRPr>
            </a:lvl3pPr>
            <a:lvl4pPr>
              <a:defRPr>
                <a:solidFill>
                  <a:srgbClr val="2980B9"/>
                </a:solidFill>
              </a:defRPr>
            </a:lvl4pPr>
            <a:lvl5pPr>
              <a:defRPr>
                <a:solidFill>
                  <a:srgbClr val="2980B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4430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F00F4-EA68-972B-B79B-FD6FB9917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0933C-C524-4679-7C47-1C066786A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175B79-65B8-C494-2BA2-CB76A0EA7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6344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9C960-42E2-5562-D0FE-398497345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01098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360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7332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898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9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8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2139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9" r:id="rId2"/>
    <p:sldLayoutId id="2147483660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3867EF7-E09D-14F8-A33B-4C7B42853253}"/>
              </a:ext>
            </a:extLst>
          </p:cNvPr>
          <p:cNvSpPr/>
          <p:nvPr userDrawn="1"/>
        </p:nvSpPr>
        <p:spPr>
          <a:xfrm>
            <a:off x="0" y="6281638"/>
            <a:ext cx="12192000" cy="588729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CC5E4B-6244-1273-742A-D6BF4C55A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12585-CDD8-AE1F-8096-77C3F4A9C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0E5BC7D-BED0-42D3-C5D4-2DE419FF2120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0799" y="6331827"/>
            <a:ext cx="1289369" cy="488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F1ECF-9408-8D15-6611-73B6DFF603B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841" y="6217639"/>
            <a:ext cx="2942997" cy="771039"/>
          </a:xfrm>
          <a:prstGeom prst="rect">
            <a:avLst/>
          </a:prstGeom>
        </p:spPr>
      </p:pic>
      <p:pic>
        <p:nvPicPr>
          <p:cNvPr id="7" name="Picture 2" descr="Deutsch">
            <a:extLst>
              <a:ext uri="{FF2B5EF4-FFF2-40B4-BE49-F238E27FC236}">
                <a16:creationId xmlns:a16="http://schemas.microsoft.com/office/drawing/2014/main" id="{E8DCBA60-C801-845D-F974-5BEF111B586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2" r="11546"/>
          <a:stretch/>
        </p:blipFill>
        <p:spPr bwMode="auto">
          <a:xfrm>
            <a:off x="2716404" y="5920939"/>
            <a:ext cx="2478065" cy="13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792CD8-50C5-44E3-C959-55D495A1F8B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 b="44560"/>
          <a:stretch>
            <a:fillRect/>
          </a:stretch>
        </p:blipFill>
        <p:spPr>
          <a:xfrm>
            <a:off x="6631619" y="6453393"/>
            <a:ext cx="1692421" cy="36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749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4" r:id="rId3"/>
    <p:sldLayoutId id="2147483655" r:id="rId4"/>
    <p:sldLayoutId id="2147483663" r:id="rId5"/>
    <p:sldLayoutId id="214748366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980B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980B9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980B9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980B9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980B9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980B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MULTICANALITÀ E PIATTAFORME AGENTICHE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Migrazione o integrazione?</a:t>
            </a:r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5120640"/>
            <a:ext cx="11887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43400" y="5257800"/>
            <a:ext cx="59436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Antonio Pierascenzi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63278" y="5662004"/>
            <a:ext cx="5943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F0E840"/>
                </a:solidFill>
                <a:latin typeface="Calibri"/>
              </a:rPr>
              <a:t>Solution Architect @Magneticode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66F6D-B1C7-9886-B438-2AC21F0A4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444E93-B6D2-4320-1B37-C285B276B876}"/>
              </a:ext>
            </a:extLst>
          </p:cNvPr>
          <p:cNvSpPr txBox="1"/>
          <p:nvPr/>
        </p:nvSpPr>
        <p:spPr>
          <a:xfrm>
            <a:off x="11338560" y="63093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3A4B7"/>
                </a:solidFill>
              </a:defRPr>
            </a:pPr>
            <a:r>
              <a:rPr>
                <a:solidFill>
                  <a:srgbClr val="1A2E6E"/>
                </a:solidFill>
                <a:latin typeface="Calibri"/>
              </a:rPr>
              <a:t>01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9BDD36-CE1E-7CB8-C277-BE4A58C07E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88" y="0"/>
            <a:ext cx="12189023" cy="6857999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FC6A1912-2981-4FCC-432F-C56C2DBD5BE6}"/>
              </a:ext>
            </a:extLst>
          </p:cNvPr>
          <p:cNvGrpSpPr/>
          <p:nvPr/>
        </p:nvGrpSpPr>
        <p:grpSpPr>
          <a:xfrm>
            <a:off x="175591" y="2942125"/>
            <a:ext cx="3270097" cy="3759728"/>
            <a:chOff x="762000" y="1524000"/>
            <a:chExt cx="5143500" cy="4381500"/>
          </a:xfrm>
        </p:grpSpPr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DCA59989-18FB-9250-5F2E-2EEA80E30D08}"/>
                </a:ext>
              </a:extLst>
            </p:cNvPr>
            <p:cNvSpPr/>
            <p:nvPr/>
          </p:nvSpPr>
          <p:spPr>
            <a:xfrm>
              <a:off x="762000" y="1524000"/>
              <a:ext cx="5143500" cy="4381500"/>
            </a:xfrm>
            <a:prstGeom prst="roundRect">
              <a:avLst>
                <a:gd name="adj" fmla="val 6000"/>
              </a:avLst>
            </a:prstGeom>
            <a:solidFill>
              <a:srgbClr val="F0E840">
                <a:alpha val="85098"/>
              </a:srgbClr>
            </a:solidFill>
            <a:ln w="19050">
              <a:solidFill>
                <a:srgbClr val="1A2E6E"/>
              </a:solidFill>
              <a:prstDash val="solid"/>
            </a:ln>
          </p:spPr>
          <p:txBody>
            <a:bodyPr/>
            <a:lstStyle/>
            <a:p>
              <a:endParaRPr lang="it-IT" sz="2000"/>
            </a:p>
          </p:txBody>
        </p:sp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533D488C-CCC3-94FA-CF27-8A4BF351425B}"/>
                </a:ext>
              </a:extLst>
            </p:cNvPr>
            <p:cNvSpPr/>
            <p:nvPr/>
          </p:nvSpPr>
          <p:spPr>
            <a:xfrm>
              <a:off x="1142998" y="1809750"/>
              <a:ext cx="1030557" cy="762000"/>
            </a:xfrm>
            <a:prstGeom prst="ellipse">
              <a:avLst/>
            </a:prstGeom>
            <a:solidFill>
              <a:srgbClr val="1A2E6E"/>
            </a:solidFill>
            <a:ln/>
          </p:spPr>
          <p:txBody>
            <a:bodyPr/>
            <a:lstStyle/>
            <a:p>
              <a:endParaRPr lang="it-IT" sz="2000"/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778C04D7-9CE6-E817-23FB-CBC4D3C8B163}"/>
                </a:ext>
              </a:extLst>
            </p:cNvPr>
            <p:cNvSpPr/>
            <p:nvPr/>
          </p:nvSpPr>
          <p:spPr>
            <a:xfrm>
              <a:off x="1142998" y="1809750"/>
              <a:ext cx="1030557" cy="76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4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</a:t>
              </a:r>
              <a:endParaRPr lang="en-US" sz="2000" dirty="0"/>
            </a:p>
          </p:txBody>
        </p:sp>
        <p:sp>
          <p:nvSpPr>
            <p:cNvPr id="13" name="Text 5">
              <a:extLst>
                <a:ext uri="{FF2B5EF4-FFF2-40B4-BE49-F238E27FC236}">
                  <a16:creationId xmlns:a16="http://schemas.microsoft.com/office/drawing/2014/main" id="{9CFF3B9A-87C7-F706-FB2B-4BEFB6898219}"/>
                </a:ext>
              </a:extLst>
            </p:cNvPr>
            <p:cNvSpPr/>
            <p:nvPr/>
          </p:nvSpPr>
          <p:spPr>
            <a:xfrm>
              <a:off x="2468383" y="1857375"/>
              <a:ext cx="3429001" cy="3333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3200" b="1" dirty="0">
                  <a:solidFill>
                    <a:srgbClr val="1A2E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Davide</a:t>
              </a:r>
              <a:endParaRPr lang="en-US" sz="2000" dirty="0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FF20AFE9-8727-8E52-C78B-0CAD4A1EC185}"/>
                </a:ext>
              </a:extLst>
            </p:cNvPr>
            <p:cNvSpPr/>
            <p:nvPr/>
          </p:nvSpPr>
          <p:spPr>
            <a:xfrm>
              <a:off x="2468383" y="2246863"/>
              <a:ext cx="3429001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600" dirty="0">
                  <a:solidFill>
                    <a:srgbClr val="1A2E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Solution Architect</a:t>
              </a:r>
              <a:endParaRPr lang="en-US" sz="2000" dirty="0"/>
            </a:p>
          </p:txBody>
        </p:sp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2F494EE6-CBEE-0066-1C8D-72321E255C67}"/>
                </a:ext>
              </a:extLst>
            </p:cNvPr>
            <p:cNvSpPr/>
            <p:nvPr/>
          </p:nvSpPr>
          <p:spPr>
            <a:xfrm>
              <a:off x="1143000" y="2762250"/>
              <a:ext cx="4381500" cy="19050"/>
            </a:xfrm>
            <a:prstGeom prst="rect">
              <a:avLst/>
            </a:prstGeom>
            <a:solidFill>
              <a:srgbClr val="1A2E6E">
                <a:alpha val="37647"/>
              </a:srgbClr>
            </a:solidFill>
            <a:ln/>
          </p:spPr>
          <p:txBody>
            <a:bodyPr/>
            <a:lstStyle/>
            <a:p>
              <a:endParaRPr lang="it-IT" sz="2000"/>
            </a:p>
          </p:txBody>
        </p:sp>
        <p:sp>
          <p:nvSpPr>
            <p:cNvPr id="16" name="Shape 8">
              <a:extLst>
                <a:ext uri="{FF2B5EF4-FFF2-40B4-BE49-F238E27FC236}">
                  <a16:creationId xmlns:a16="http://schemas.microsoft.com/office/drawing/2014/main" id="{B27C97D1-0F28-94D9-6C1B-2D29F9B0DAF0}"/>
                </a:ext>
              </a:extLst>
            </p:cNvPr>
            <p:cNvSpPr/>
            <p:nvPr/>
          </p:nvSpPr>
          <p:spPr>
            <a:xfrm>
              <a:off x="1159669" y="2952750"/>
              <a:ext cx="233363" cy="266700"/>
            </a:xfrm>
            <a:custGeom>
              <a:avLst/>
              <a:gdLst/>
              <a:ahLst/>
              <a:cxnLst/>
              <a:rect l="l" t="t" r="r" b="b"/>
              <a:pathLst>
                <a:path w="311150" h="355600">
                  <a:moveTo>
                    <a:pt x="0" y="150019"/>
                  </a:moveTo>
                  <a:cubicBezTo>
                    <a:pt x="0" y="103971"/>
                    <a:pt x="37296" y="66675"/>
                    <a:pt x="83344" y="66675"/>
                  </a:cubicBezTo>
                  <a:lnTo>
                    <a:pt x="88900" y="66675"/>
                  </a:lnTo>
                  <a:cubicBezTo>
                    <a:pt x="101193" y="66675"/>
                    <a:pt x="111125" y="76607"/>
                    <a:pt x="111125" y="88900"/>
                  </a:cubicBezTo>
                  <a:cubicBezTo>
                    <a:pt x="111125" y="101193"/>
                    <a:pt x="101193" y="111125"/>
                    <a:pt x="88900" y="111125"/>
                  </a:cubicBezTo>
                  <a:lnTo>
                    <a:pt x="83344" y="111125"/>
                  </a:lnTo>
                  <a:cubicBezTo>
                    <a:pt x="61883" y="111125"/>
                    <a:pt x="44450" y="128558"/>
                    <a:pt x="44450" y="150019"/>
                  </a:cubicBezTo>
                  <a:lnTo>
                    <a:pt x="44450" y="155575"/>
                  </a:lnTo>
                  <a:lnTo>
                    <a:pt x="88900" y="155575"/>
                  </a:lnTo>
                  <a:cubicBezTo>
                    <a:pt x="113417" y="155575"/>
                    <a:pt x="133350" y="175508"/>
                    <a:pt x="133350" y="200025"/>
                  </a:cubicBezTo>
                  <a:lnTo>
                    <a:pt x="133350" y="244475"/>
                  </a:lnTo>
                  <a:cubicBezTo>
                    <a:pt x="133350" y="268992"/>
                    <a:pt x="113417" y="288925"/>
                    <a:pt x="88900" y="288925"/>
                  </a:cubicBezTo>
                  <a:lnTo>
                    <a:pt x="44450" y="288925"/>
                  </a:lnTo>
                  <a:cubicBezTo>
                    <a:pt x="19933" y="288925"/>
                    <a:pt x="0" y="268992"/>
                    <a:pt x="0" y="244475"/>
                  </a:cubicBezTo>
                  <a:lnTo>
                    <a:pt x="0" y="150019"/>
                  </a:lnTo>
                  <a:close/>
                  <a:moveTo>
                    <a:pt x="177800" y="150019"/>
                  </a:moveTo>
                  <a:cubicBezTo>
                    <a:pt x="177800" y="103971"/>
                    <a:pt x="215096" y="66675"/>
                    <a:pt x="261144" y="66675"/>
                  </a:cubicBezTo>
                  <a:lnTo>
                    <a:pt x="266700" y="66675"/>
                  </a:lnTo>
                  <a:cubicBezTo>
                    <a:pt x="278993" y="66675"/>
                    <a:pt x="288925" y="76607"/>
                    <a:pt x="288925" y="88900"/>
                  </a:cubicBezTo>
                  <a:cubicBezTo>
                    <a:pt x="288925" y="101193"/>
                    <a:pt x="278993" y="111125"/>
                    <a:pt x="266700" y="111125"/>
                  </a:cubicBezTo>
                  <a:lnTo>
                    <a:pt x="261144" y="111125"/>
                  </a:lnTo>
                  <a:cubicBezTo>
                    <a:pt x="239683" y="111125"/>
                    <a:pt x="222250" y="128558"/>
                    <a:pt x="222250" y="150019"/>
                  </a:cubicBezTo>
                  <a:lnTo>
                    <a:pt x="222250" y="155575"/>
                  </a:lnTo>
                  <a:lnTo>
                    <a:pt x="266700" y="155575"/>
                  </a:lnTo>
                  <a:cubicBezTo>
                    <a:pt x="291217" y="155575"/>
                    <a:pt x="311150" y="175508"/>
                    <a:pt x="311150" y="200025"/>
                  </a:cubicBezTo>
                  <a:lnTo>
                    <a:pt x="311150" y="244475"/>
                  </a:lnTo>
                  <a:cubicBezTo>
                    <a:pt x="311150" y="268992"/>
                    <a:pt x="291217" y="288925"/>
                    <a:pt x="266700" y="288925"/>
                  </a:cubicBezTo>
                  <a:lnTo>
                    <a:pt x="222250" y="288925"/>
                  </a:lnTo>
                  <a:cubicBezTo>
                    <a:pt x="197733" y="288925"/>
                    <a:pt x="177800" y="268992"/>
                    <a:pt x="177800" y="244475"/>
                  </a:cubicBezTo>
                  <a:lnTo>
                    <a:pt x="177800" y="150019"/>
                  </a:lnTo>
                  <a:close/>
                </a:path>
              </a:pathLst>
            </a:custGeom>
            <a:solidFill>
              <a:srgbClr val="1A2E6E">
                <a:alpha val="37647"/>
              </a:srgbClr>
            </a:solidFill>
            <a:ln/>
          </p:spPr>
          <p:txBody>
            <a:bodyPr/>
            <a:lstStyle/>
            <a:p>
              <a:endParaRPr lang="it-IT" sz="2000"/>
            </a:p>
          </p:txBody>
        </p:sp>
        <p:sp>
          <p:nvSpPr>
            <p:cNvPr id="17" name="Text 9">
              <a:extLst>
                <a:ext uri="{FF2B5EF4-FFF2-40B4-BE49-F238E27FC236}">
                  <a16:creationId xmlns:a16="http://schemas.microsoft.com/office/drawing/2014/main" id="{47A254CE-32D9-5EB1-15FC-EE36A6B0D2CC}"/>
                </a:ext>
              </a:extLst>
            </p:cNvPr>
            <p:cNvSpPr/>
            <p:nvPr/>
          </p:nvSpPr>
          <p:spPr>
            <a:xfrm>
              <a:off x="1142999" y="3426414"/>
              <a:ext cx="438150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1600" i="1" dirty="0">
                  <a:solidFill>
                    <a:srgbClr val="1A2E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"Il sistema è in produzione e funziona. Ogni volta che qualcuno dice «aggiungiamo un canale», io sento «rimettiamo in discussione l'architettura»."</a:t>
              </a:r>
              <a:endParaRPr lang="en-US" sz="1600" dirty="0"/>
            </a:p>
          </p:txBody>
        </p:sp>
        <p:sp>
          <p:nvSpPr>
            <p:cNvPr id="18" name="Shape 10">
              <a:extLst>
                <a:ext uri="{FF2B5EF4-FFF2-40B4-BE49-F238E27FC236}">
                  <a16:creationId xmlns:a16="http://schemas.microsoft.com/office/drawing/2014/main" id="{0565EBC7-CEF7-9F4A-C6A8-C57B6ABE74C3}"/>
                </a:ext>
              </a:extLst>
            </p:cNvPr>
            <p:cNvSpPr/>
            <p:nvPr/>
          </p:nvSpPr>
          <p:spPr>
            <a:xfrm>
              <a:off x="1159669" y="5290930"/>
              <a:ext cx="1524000" cy="342900"/>
            </a:xfrm>
            <a:prstGeom prst="roundRect">
              <a:avLst>
                <a:gd name="adj" fmla="val 16000"/>
              </a:avLst>
            </a:prstGeom>
            <a:solidFill>
              <a:srgbClr val="1A2E6E">
                <a:alpha val="12549"/>
              </a:srgb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it-IT" sz="2000"/>
            </a:p>
          </p:txBody>
        </p:sp>
        <p:sp>
          <p:nvSpPr>
            <p:cNvPr id="19" name="Text 11">
              <a:extLst>
                <a:ext uri="{FF2B5EF4-FFF2-40B4-BE49-F238E27FC236}">
                  <a16:creationId xmlns:a16="http://schemas.microsoft.com/office/drawing/2014/main" id="{D739BF62-4490-5ECE-9BF7-90FFB739B6E5}"/>
                </a:ext>
              </a:extLst>
            </p:cNvPr>
            <p:cNvSpPr/>
            <p:nvPr/>
          </p:nvSpPr>
          <p:spPr>
            <a:xfrm>
              <a:off x="1158485" y="5290930"/>
              <a:ext cx="1524000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PRO-CODE</a:t>
              </a:r>
              <a:endParaRPr lang="en-US" sz="20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8520607-7ABD-9D08-344B-D841D78F035D}"/>
              </a:ext>
            </a:extLst>
          </p:cNvPr>
          <p:cNvGrpSpPr/>
          <p:nvPr/>
        </p:nvGrpSpPr>
        <p:grpSpPr>
          <a:xfrm>
            <a:off x="8770286" y="2943453"/>
            <a:ext cx="3268800" cy="3758400"/>
            <a:chOff x="6286500" y="1524000"/>
            <a:chExt cx="5143500" cy="4381500"/>
          </a:xfrm>
        </p:grpSpPr>
        <p:sp>
          <p:nvSpPr>
            <p:cNvPr id="21" name="Shape 12"/>
            <p:cNvSpPr/>
            <p:nvPr/>
          </p:nvSpPr>
          <p:spPr>
            <a:xfrm>
              <a:off x="6286500" y="1524000"/>
              <a:ext cx="5143500" cy="4381500"/>
            </a:xfrm>
            <a:prstGeom prst="roundRect">
              <a:avLst>
                <a:gd name="adj" fmla="val 6000"/>
              </a:avLst>
            </a:prstGeom>
            <a:solidFill>
              <a:srgbClr val="F0E840">
                <a:alpha val="85098"/>
              </a:srgbClr>
            </a:solidFill>
            <a:ln w="19050">
              <a:solidFill>
                <a:srgbClr val="1A2E6E"/>
              </a:solidFill>
              <a:prstDash val="solid"/>
            </a:ln>
          </p:spPr>
          <p:txBody>
            <a:bodyPr/>
            <a:lstStyle/>
            <a:p>
              <a:endParaRPr lang="it-IT" sz="1350"/>
            </a:p>
          </p:txBody>
        </p:sp>
        <p:sp>
          <p:nvSpPr>
            <p:cNvPr id="22" name="Shape 13"/>
            <p:cNvSpPr/>
            <p:nvPr/>
          </p:nvSpPr>
          <p:spPr>
            <a:xfrm>
              <a:off x="6667498" y="1809750"/>
              <a:ext cx="1030966" cy="762000"/>
            </a:xfrm>
            <a:prstGeom prst="ellipse">
              <a:avLst/>
            </a:prstGeom>
            <a:solidFill>
              <a:srgbClr val="2A7EC8"/>
            </a:solidFill>
            <a:ln/>
          </p:spPr>
          <p:txBody>
            <a:bodyPr/>
            <a:lstStyle/>
            <a:p>
              <a:endParaRPr lang="it-IT" sz="1350"/>
            </a:p>
          </p:txBody>
        </p:sp>
        <p:sp>
          <p:nvSpPr>
            <p:cNvPr id="23" name="Text 14"/>
            <p:cNvSpPr/>
            <p:nvPr/>
          </p:nvSpPr>
          <p:spPr>
            <a:xfrm>
              <a:off x="6774080" y="1809750"/>
              <a:ext cx="762001" cy="762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4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4000" dirty="0"/>
            </a:p>
          </p:txBody>
        </p:sp>
        <p:sp>
          <p:nvSpPr>
            <p:cNvPr id="24" name="Text 15"/>
            <p:cNvSpPr/>
            <p:nvPr/>
          </p:nvSpPr>
          <p:spPr>
            <a:xfrm>
              <a:off x="7975268" y="1857375"/>
              <a:ext cx="3429000" cy="3333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3200" b="1" dirty="0">
                  <a:solidFill>
                    <a:srgbClr val="1A2E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Chiara</a:t>
              </a:r>
              <a:endParaRPr lang="en-US" sz="3200" dirty="0"/>
            </a:p>
          </p:txBody>
        </p:sp>
        <p:sp>
          <p:nvSpPr>
            <p:cNvPr id="25" name="Text 16"/>
            <p:cNvSpPr/>
            <p:nvPr/>
          </p:nvSpPr>
          <p:spPr>
            <a:xfrm>
              <a:off x="7975268" y="2236561"/>
              <a:ext cx="34290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600" dirty="0">
                  <a:solidFill>
                    <a:srgbClr val="1A2E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 Manager</a:t>
              </a:r>
              <a:endParaRPr lang="en-US" sz="2000" dirty="0"/>
            </a:p>
          </p:txBody>
        </p:sp>
        <p:sp>
          <p:nvSpPr>
            <p:cNvPr id="26" name="Shape 17"/>
            <p:cNvSpPr/>
            <p:nvPr/>
          </p:nvSpPr>
          <p:spPr>
            <a:xfrm>
              <a:off x="6667500" y="2762250"/>
              <a:ext cx="4381500" cy="19050"/>
            </a:xfrm>
            <a:prstGeom prst="rect">
              <a:avLst/>
            </a:prstGeom>
            <a:solidFill>
              <a:srgbClr val="1A2E6E">
                <a:alpha val="37647"/>
              </a:srgbClr>
            </a:solidFill>
            <a:ln/>
          </p:spPr>
          <p:txBody>
            <a:bodyPr/>
            <a:lstStyle/>
            <a:p>
              <a:endParaRPr lang="it-IT" sz="1350"/>
            </a:p>
          </p:txBody>
        </p:sp>
        <p:sp>
          <p:nvSpPr>
            <p:cNvPr id="27" name="Shape 18"/>
            <p:cNvSpPr/>
            <p:nvPr/>
          </p:nvSpPr>
          <p:spPr>
            <a:xfrm>
              <a:off x="6684169" y="2952750"/>
              <a:ext cx="233363" cy="266700"/>
            </a:xfrm>
            <a:custGeom>
              <a:avLst/>
              <a:gdLst/>
              <a:ahLst/>
              <a:cxnLst/>
              <a:rect l="l" t="t" r="r" b="b"/>
              <a:pathLst>
                <a:path w="311150" h="355600">
                  <a:moveTo>
                    <a:pt x="0" y="150019"/>
                  </a:moveTo>
                  <a:cubicBezTo>
                    <a:pt x="0" y="103971"/>
                    <a:pt x="37296" y="66675"/>
                    <a:pt x="83344" y="66675"/>
                  </a:cubicBezTo>
                  <a:lnTo>
                    <a:pt x="88900" y="66675"/>
                  </a:lnTo>
                  <a:cubicBezTo>
                    <a:pt x="101193" y="66675"/>
                    <a:pt x="111125" y="76607"/>
                    <a:pt x="111125" y="88900"/>
                  </a:cubicBezTo>
                  <a:cubicBezTo>
                    <a:pt x="111125" y="101193"/>
                    <a:pt x="101193" y="111125"/>
                    <a:pt x="88900" y="111125"/>
                  </a:cubicBezTo>
                  <a:lnTo>
                    <a:pt x="83344" y="111125"/>
                  </a:lnTo>
                  <a:cubicBezTo>
                    <a:pt x="61883" y="111125"/>
                    <a:pt x="44450" y="128558"/>
                    <a:pt x="44450" y="150019"/>
                  </a:cubicBezTo>
                  <a:lnTo>
                    <a:pt x="44450" y="155575"/>
                  </a:lnTo>
                  <a:lnTo>
                    <a:pt x="88900" y="155575"/>
                  </a:lnTo>
                  <a:cubicBezTo>
                    <a:pt x="113417" y="155575"/>
                    <a:pt x="133350" y="175508"/>
                    <a:pt x="133350" y="200025"/>
                  </a:cubicBezTo>
                  <a:lnTo>
                    <a:pt x="133350" y="244475"/>
                  </a:lnTo>
                  <a:cubicBezTo>
                    <a:pt x="133350" y="268992"/>
                    <a:pt x="113417" y="288925"/>
                    <a:pt x="88900" y="288925"/>
                  </a:cubicBezTo>
                  <a:lnTo>
                    <a:pt x="44450" y="288925"/>
                  </a:lnTo>
                  <a:cubicBezTo>
                    <a:pt x="19933" y="288925"/>
                    <a:pt x="0" y="268992"/>
                    <a:pt x="0" y="244475"/>
                  </a:cubicBezTo>
                  <a:lnTo>
                    <a:pt x="0" y="150019"/>
                  </a:lnTo>
                  <a:close/>
                  <a:moveTo>
                    <a:pt x="177800" y="150019"/>
                  </a:moveTo>
                  <a:cubicBezTo>
                    <a:pt x="177800" y="103971"/>
                    <a:pt x="215096" y="66675"/>
                    <a:pt x="261144" y="66675"/>
                  </a:cubicBezTo>
                  <a:lnTo>
                    <a:pt x="266700" y="66675"/>
                  </a:lnTo>
                  <a:cubicBezTo>
                    <a:pt x="278993" y="66675"/>
                    <a:pt x="288925" y="76607"/>
                    <a:pt x="288925" y="88900"/>
                  </a:cubicBezTo>
                  <a:cubicBezTo>
                    <a:pt x="288925" y="101193"/>
                    <a:pt x="278993" y="111125"/>
                    <a:pt x="266700" y="111125"/>
                  </a:cubicBezTo>
                  <a:lnTo>
                    <a:pt x="261144" y="111125"/>
                  </a:lnTo>
                  <a:cubicBezTo>
                    <a:pt x="239683" y="111125"/>
                    <a:pt x="222250" y="128558"/>
                    <a:pt x="222250" y="150019"/>
                  </a:cubicBezTo>
                  <a:lnTo>
                    <a:pt x="222250" y="155575"/>
                  </a:lnTo>
                  <a:lnTo>
                    <a:pt x="266700" y="155575"/>
                  </a:lnTo>
                  <a:cubicBezTo>
                    <a:pt x="291217" y="155575"/>
                    <a:pt x="311150" y="175508"/>
                    <a:pt x="311150" y="200025"/>
                  </a:cubicBezTo>
                  <a:lnTo>
                    <a:pt x="311150" y="244475"/>
                  </a:lnTo>
                  <a:cubicBezTo>
                    <a:pt x="311150" y="268992"/>
                    <a:pt x="291217" y="288925"/>
                    <a:pt x="266700" y="288925"/>
                  </a:cubicBezTo>
                  <a:lnTo>
                    <a:pt x="222250" y="288925"/>
                  </a:lnTo>
                  <a:cubicBezTo>
                    <a:pt x="197733" y="288925"/>
                    <a:pt x="177800" y="268992"/>
                    <a:pt x="177800" y="244475"/>
                  </a:cubicBezTo>
                  <a:lnTo>
                    <a:pt x="177800" y="150019"/>
                  </a:lnTo>
                  <a:close/>
                </a:path>
              </a:pathLst>
            </a:custGeom>
            <a:solidFill>
              <a:srgbClr val="1A2E6E">
                <a:alpha val="37647"/>
              </a:srgbClr>
            </a:solidFill>
            <a:ln/>
          </p:spPr>
          <p:txBody>
            <a:bodyPr/>
            <a:lstStyle/>
            <a:p>
              <a:endParaRPr lang="it-IT" sz="1350"/>
            </a:p>
          </p:txBody>
        </p:sp>
        <p:sp>
          <p:nvSpPr>
            <p:cNvPr id="28" name="Text 19"/>
            <p:cNvSpPr/>
            <p:nvPr/>
          </p:nvSpPr>
          <p:spPr>
            <a:xfrm>
              <a:off x="6667499" y="3222516"/>
              <a:ext cx="4381499" cy="13811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i="1" dirty="0">
                  <a:solidFill>
                    <a:srgbClr val="1A2E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"A me interessa dove sono gli utenti. Se la piattaforma ci porta su Teams in una settimana, voglio capire cosa stiamo cedendo in cambio."</a:t>
              </a:r>
              <a:endParaRPr lang="en-US" dirty="0"/>
            </a:p>
          </p:txBody>
        </p:sp>
        <p:sp>
          <p:nvSpPr>
            <p:cNvPr id="30" name="Shape 20"/>
            <p:cNvSpPr/>
            <p:nvPr/>
          </p:nvSpPr>
          <p:spPr>
            <a:xfrm>
              <a:off x="6688517" y="5318235"/>
              <a:ext cx="2319646" cy="342900"/>
            </a:xfrm>
            <a:prstGeom prst="roundRect">
              <a:avLst>
                <a:gd name="adj" fmla="val 16000"/>
              </a:avLst>
            </a:prstGeom>
            <a:solidFill>
              <a:srgbClr val="2A7EC8">
                <a:alpha val="12549"/>
              </a:srgb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it-IT" sz="1350"/>
            </a:p>
          </p:txBody>
        </p:sp>
        <p:sp>
          <p:nvSpPr>
            <p:cNvPr id="31" name="Text 21"/>
            <p:cNvSpPr/>
            <p:nvPr/>
          </p:nvSpPr>
          <p:spPr>
            <a:xfrm>
              <a:off x="6688517" y="5318235"/>
              <a:ext cx="2169511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16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BUSINESS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44667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81058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 dirty="0" err="1">
                <a:solidFill>
                  <a:srgbClr val="2A7EC8"/>
                </a:solidFill>
                <a:latin typeface="Calibri"/>
              </a:rPr>
              <a:t>Venerdì</a:t>
            </a:r>
            <a:r>
              <a:rPr sz="1600" b="1" i="0" dirty="0">
                <a:solidFill>
                  <a:srgbClr val="2A7EC8"/>
                </a:solidFill>
                <a:latin typeface="Calibri"/>
              </a:rPr>
              <a:t>, ore 8:47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059524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Chiara apre il laptop con il caffè ancora in mano. In inbox, una mail del CDA arrivata giovedì sera.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795296"/>
            <a:ext cx="9784080" cy="1234440"/>
          </a:xfrm>
          <a:prstGeom prst="roundRect">
            <a:avLst/>
          </a:prstGeom>
          <a:solidFill>
            <a:srgbClr val="EEF2F8"/>
          </a:solidFill>
          <a:ln w="15875">
            <a:solidFill>
              <a:srgbClr val="2A7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17320" y="2971800"/>
            <a:ext cx="9326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2A7EC8"/>
                </a:solidFill>
                <a:latin typeface="Calibri"/>
              </a:rPr>
              <a:t>✉   Dal CDA — gio 4 giu, 23:14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383280"/>
            <a:ext cx="932688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1">
                <a:solidFill>
                  <a:srgbClr val="333333"/>
                </a:solidFill>
                <a:latin typeface="Calibri"/>
              </a:rPr>
              <a:t>"Ottimo lavoro sul sistema segnalazioni. Riuscireste a portarlo anche su Teams entro la prossima sprint review?"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251960"/>
            <a:ext cx="105156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Calibri"/>
              </a:rPr>
              <a:t>Chiara chiama Davide. Risponde al secondo squillo — stava già guardando i log di produzione.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46320"/>
            <a:ext cx="11887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2A7EC8"/>
                </a:solidFill>
                <a:latin typeface="Calibri"/>
              </a:rPr>
              <a:t>Chiara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4846320"/>
            <a:ext cx="92354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1A2E6E"/>
                </a:solidFill>
                <a:latin typeface="Calibri"/>
              </a:rPr>
              <a:t>— Davide, hai visto la mail?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257800"/>
            <a:ext cx="118872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i="0">
                <a:solidFill>
                  <a:srgbClr val="2A7EC8"/>
                </a:solidFill>
                <a:latin typeface="Calibri"/>
              </a:rPr>
              <a:t>Davide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257800"/>
            <a:ext cx="92354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i="0">
                <a:solidFill>
                  <a:srgbClr val="1A2E6E"/>
                </a:solidFill>
                <a:latin typeface="Calibri"/>
              </a:rPr>
              <a:t>— Vista. Dipende cosa intendono per "portarlo su Teams".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«Portarlo su Teams» sono tre progetti diversi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2560320"/>
            <a:ext cx="3502152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2743200"/>
            <a:ext cx="3136392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1A2E6E"/>
                </a:solidFill>
                <a:latin typeface="Calibri"/>
              </a:rPr>
              <a:t>Un </a:t>
            </a:r>
            <a:r>
              <a:rPr sz="1600" b="1" dirty="0" err="1">
                <a:solidFill>
                  <a:srgbClr val="1A2E6E"/>
                </a:solidFill>
                <a:latin typeface="Calibri"/>
              </a:rPr>
              <a:t>canale</a:t>
            </a:r>
            <a:r>
              <a:rPr sz="1600" b="1" dirty="0">
                <a:solidFill>
                  <a:srgbClr val="1A2E6E"/>
                </a:solidFill>
                <a:latin typeface="Calibri"/>
              </a:rPr>
              <a:t> in </a:t>
            </a:r>
            <a:r>
              <a:rPr sz="1600" b="1" dirty="0" err="1">
                <a:solidFill>
                  <a:srgbClr val="1A2E6E"/>
                </a:solidFill>
                <a:latin typeface="Calibri"/>
              </a:rPr>
              <a:t>più</a:t>
            </a:r>
            <a:endParaRPr sz="2000" b="1" dirty="0">
              <a:solidFill>
                <a:srgbClr val="1A2E6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24128" y="3321634"/>
            <a:ext cx="3136392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333333"/>
                </a:solidFill>
                <a:latin typeface="Calibri"/>
              </a:rPr>
              <a:t>Una </a:t>
            </a:r>
            <a:r>
              <a:rPr sz="1600" b="0" dirty="0" err="1">
                <a:solidFill>
                  <a:srgbClr val="333333"/>
                </a:solidFill>
                <a:latin typeface="Calibri"/>
              </a:rPr>
              <a:t>superficie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 di chat </a:t>
            </a:r>
            <a:r>
              <a:rPr sz="1600" b="0" dirty="0" err="1">
                <a:solidFill>
                  <a:srgbClr val="333333"/>
                </a:solidFill>
                <a:latin typeface="Calibri"/>
              </a:rPr>
              <a:t>davanti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3333"/>
                </a:solidFill>
                <a:latin typeface="Calibri"/>
              </a:rPr>
              <a:t>allo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3333"/>
                </a:solidFill>
                <a:latin typeface="Calibri"/>
              </a:rPr>
              <a:t>stesso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3333"/>
                </a:solidFill>
                <a:latin typeface="Calibri"/>
              </a:rPr>
              <a:t>sistema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4128" y="4416761"/>
            <a:ext cx="3136392" cy="822960"/>
          </a:xfrm>
          <a:prstGeom prst="roundRect">
            <a:avLst/>
          </a:prstGeom>
          <a:solidFill>
            <a:srgbClr val="2A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Giorni — ma l'human in the loop sparisce.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560320"/>
            <a:ext cx="3502152" cy="34747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2743200"/>
            <a:ext cx="3136392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1A2E6E"/>
                </a:solidFill>
                <a:latin typeface="Calibri"/>
              </a:rPr>
              <a:t>Due </a:t>
            </a:r>
            <a:r>
              <a:rPr sz="1600" b="1" dirty="0" err="1">
                <a:solidFill>
                  <a:srgbClr val="1A2E6E"/>
                </a:solidFill>
                <a:latin typeface="Calibri"/>
              </a:rPr>
              <a:t>sistemi</a:t>
            </a:r>
            <a:r>
              <a:rPr sz="1600" b="1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A2E6E"/>
                </a:solidFill>
                <a:latin typeface="Calibri"/>
              </a:rPr>
              <a:t>che</a:t>
            </a:r>
            <a:r>
              <a:rPr sz="1600" b="1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A2E6E"/>
                </a:solidFill>
                <a:latin typeface="Calibri"/>
              </a:rPr>
              <a:t>si</a:t>
            </a:r>
            <a:r>
              <a:rPr sz="1600" b="1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A2E6E"/>
                </a:solidFill>
                <a:latin typeface="Calibri"/>
              </a:rPr>
              <a:t>parlano</a:t>
            </a:r>
            <a:endParaRPr sz="2000" b="1" dirty="0">
              <a:solidFill>
                <a:srgbClr val="1A2E6E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63440" y="3321635"/>
            <a:ext cx="3136392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333333"/>
                </a:solidFill>
                <a:latin typeface="Calibri"/>
              </a:rPr>
              <a:t>Front-end low-code, </a:t>
            </a:r>
            <a:r>
              <a:rPr sz="1600" b="0" dirty="0" err="1">
                <a:solidFill>
                  <a:srgbClr val="333333"/>
                </a:solidFill>
                <a:latin typeface="Calibri"/>
              </a:rPr>
              <a:t>logica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 custom </a:t>
            </a:r>
            <a:r>
              <a:rPr sz="1600" b="0" dirty="0" err="1">
                <a:solidFill>
                  <a:srgbClr val="333333"/>
                </a:solidFill>
                <a:latin typeface="Calibri"/>
              </a:rPr>
              <a:t>dietro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4416761"/>
            <a:ext cx="3136392" cy="822960"/>
          </a:xfrm>
          <a:prstGeom prst="roundRect">
            <a:avLst/>
          </a:prstGeom>
          <a:solidFill>
            <a:srgbClr val="2A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Un contratto da progettare, in cambio si tiene tutto.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2560320"/>
            <a:ext cx="3502152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02752" y="2743200"/>
            <a:ext cx="3136392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A2E6E"/>
                </a:solidFill>
                <a:latin typeface="Calibri"/>
              </a:rPr>
              <a:t>Una piattaforma diversa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3311011"/>
            <a:ext cx="3136392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dirty="0" err="1">
                <a:solidFill>
                  <a:srgbClr val="333333"/>
                </a:solidFill>
                <a:latin typeface="Calibri"/>
              </a:rPr>
              <a:t>Ricostruire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3333"/>
                </a:solidFill>
                <a:latin typeface="Calibri"/>
              </a:rPr>
              <a:t>su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 Copilot Studio e </a:t>
            </a:r>
            <a:r>
              <a:rPr sz="1600" b="0" dirty="0" err="1">
                <a:solidFill>
                  <a:srgbClr val="333333"/>
                </a:solidFill>
                <a:latin typeface="Calibri"/>
              </a:rPr>
              <a:t>prendere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3333"/>
                </a:solidFill>
                <a:latin typeface="Calibri"/>
              </a:rPr>
              <a:t>i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3333"/>
                </a:solidFill>
                <a:latin typeface="Calibri"/>
              </a:rPr>
              <a:t>canali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3333"/>
                </a:solidFill>
                <a:latin typeface="Calibri"/>
              </a:rPr>
              <a:t>inclusi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02752" y="4416761"/>
            <a:ext cx="3136392" cy="822960"/>
          </a:xfrm>
          <a:prstGeom prst="roundRect">
            <a:avLst/>
          </a:prstGeom>
          <a:solidFill>
            <a:srgbClr val="2A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Settimane — si cede il controllo sul prompt.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77CAD9C-5B48-44E5-4A58-16A99FB492E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1324" y="1543219"/>
            <a:ext cx="762000" cy="7620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A05BBF3-A001-686B-AB4D-9035A2256D9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50636" y="1543219"/>
            <a:ext cx="762000" cy="7620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D97E5B95-9589-897A-11C0-F203C192DA4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89948" y="1543219"/>
            <a:ext cx="762000" cy="762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 SISTEMA CHE ABBIAMO COSTRUITO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609766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2A7EC8"/>
                </a:solidFill>
                <a:latin typeface="Calibri"/>
              </a:rPr>
              <a:t>Non risponde al posto dell'operatore — lo mette nelle condizioni di rispondere meglio e più in fretta.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2377440"/>
            <a:ext cx="2514600" cy="1417320"/>
          </a:xfrm>
          <a:prstGeom prst="roundRect">
            <a:avLst/>
          </a:prstGeom>
          <a:solidFill>
            <a:srgbClr val="2A7EC8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Mail in arrivo</a:t>
            </a:r>
          </a:p>
          <a:p>
            <a:endParaRPr sz="1300" b="1">
              <a:solidFill>
                <a:srgbClr val="FFFFFF"/>
              </a:solidFill>
              <a:latin typeface="Calibri"/>
            </a:endParaRPr>
          </a:p>
          <a:p>
            <a:r>
              <a:rPr sz="1600">
                <a:solidFill>
                  <a:srgbClr val="FFFFFF"/>
                </a:solidFill>
                <a:latin typeface="Calibri"/>
              </a:rPr>
              <a:t>Segnalazione utente via email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47288" y="2377440"/>
            <a:ext cx="2514600" cy="1417320"/>
          </a:xfrm>
          <a:prstGeom prst="roundRect">
            <a:avLst/>
          </a:prstGeom>
          <a:solidFill>
            <a:srgbClr val="2A7EC8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Sentiment</a:t>
            </a:r>
          </a:p>
          <a:p>
            <a:endParaRPr sz="1300" b="1">
              <a:solidFill>
                <a:srgbClr val="FFFFFF"/>
              </a:solidFill>
              <a:latin typeface="Calibri"/>
            </a:endParaRPr>
          </a:p>
          <a:p>
            <a:r>
              <a:rPr sz="1600">
                <a:solidFill>
                  <a:srgbClr val="FFFFFF"/>
                </a:solidFill>
                <a:latin typeface="Calibri"/>
              </a:rPr>
              <a:t>Azure AI Language · tono del testo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53328" y="2377440"/>
            <a:ext cx="2514600" cy="1417320"/>
          </a:xfrm>
          <a:prstGeom prst="roundRect">
            <a:avLst/>
          </a:prstGeom>
          <a:solidFill>
            <a:srgbClr val="2A7EC8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Embedding + Store</a:t>
            </a:r>
          </a:p>
          <a:p>
            <a:endParaRPr sz="1300" b="1">
              <a:solidFill>
                <a:srgbClr val="FFFFFF"/>
              </a:solidFill>
              <a:latin typeface="Calibri"/>
            </a:endParaRPr>
          </a:p>
          <a:p>
            <a:r>
              <a:rPr sz="1600">
                <a:solidFill>
                  <a:srgbClr val="FFFFFF"/>
                </a:solidFill>
                <a:latin typeface="Calibri"/>
              </a:rPr>
              <a:t>Microsoft.Extensions.AI · SQL VECTOR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59368" y="2377440"/>
            <a:ext cx="2514600" cy="1417320"/>
          </a:xfrm>
          <a:prstGeom prst="roundRect">
            <a:avLst/>
          </a:prstGeom>
          <a:solidFill>
            <a:srgbClr val="2A7EC8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Similarity Search</a:t>
            </a:r>
          </a:p>
          <a:p>
            <a:endParaRPr sz="1300" b="1">
              <a:solidFill>
                <a:srgbClr val="FFFFFF"/>
              </a:solidFill>
              <a:latin typeface="Calibri"/>
            </a:endParaRPr>
          </a:p>
          <a:p>
            <a:r>
              <a:rPr sz="1600">
                <a:solidFill>
                  <a:srgbClr val="FFFFFF"/>
                </a:solidFill>
                <a:latin typeface="Calibri"/>
              </a:rPr>
              <a:t>Top-3 ticket simili · cosine distance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931920"/>
            <a:ext cx="2514600" cy="1417320"/>
          </a:xfrm>
          <a:prstGeom prst="roundRect">
            <a:avLst/>
          </a:prstGeom>
          <a:solidFill>
            <a:srgbClr val="F0E840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Tre suggerimenti</a:t>
            </a:r>
          </a:p>
          <a:p>
            <a:endParaRPr sz="13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Casi simili col contesto dell'agente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8" y="3931920"/>
            <a:ext cx="2514600" cy="1417320"/>
          </a:xfrm>
          <a:prstGeom prst="roundRect">
            <a:avLst/>
          </a:prstGeom>
          <a:solidFill>
            <a:srgbClr val="F0E840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Operatore</a:t>
            </a:r>
          </a:p>
          <a:p>
            <a:endParaRPr sz="13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Legge i suggerimenti e sceglie la risposta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53328" y="3931920"/>
            <a:ext cx="2514600" cy="1417320"/>
          </a:xfrm>
          <a:prstGeom prst="roundRect">
            <a:avLst/>
          </a:prstGeom>
          <a:solidFill>
            <a:srgbClr val="F0E840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CRM</a:t>
            </a:r>
          </a:p>
          <a:p>
            <a:endParaRPr sz="13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Ticket aperto automaticamente dalla mail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59368" y="3931920"/>
            <a:ext cx="2514600" cy="1417320"/>
          </a:xfrm>
          <a:prstGeom prst="roundRect">
            <a:avLst/>
          </a:prstGeom>
          <a:solidFill>
            <a:srgbClr val="F0E840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Risposta utente</a:t>
            </a:r>
          </a:p>
          <a:p>
            <a:endParaRPr sz="13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L'operatore invia la mail finale al segnalante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577840"/>
            <a:ext cx="1051560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1A2E6E"/>
                </a:solidFill>
                <a:latin typeface="Calibri"/>
              </a:rPr>
              <a:t>↓  human in the loop  ↓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0538"/>
          </a:xfrm>
        </p:spPr>
        <p:txBody>
          <a:bodyPr/>
          <a:lstStyle/>
          <a:p>
            <a:r>
              <a:rPr dirty="0"/>
              <a:t>STACK TECNOLOGICO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0" y="1621081"/>
            <a:ext cx="99060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sz="1600" dirty="0">
                <a:solidFill>
                  <a:srgbClr val="2A7EC8"/>
                </a:solidFill>
              </a:rPr>
              <a:t>C# / .NET  —  il runtime </a:t>
            </a:r>
            <a:r>
              <a:rPr sz="1600" dirty="0" err="1">
                <a:solidFill>
                  <a:srgbClr val="2A7EC8"/>
                </a:solidFill>
              </a:rPr>
              <a:t>dell'intero</a:t>
            </a:r>
            <a:r>
              <a:rPr sz="1600" dirty="0">
                <a:solidFill>
                  <a:srgbClr val="2A7EC8"/>
                </a:solidFill>
              </a:rPr>
              <a:t> </a:t>
            </a:r>
            <a:r>
              <a:rPr sz="1600" dirty="0" err="1">
                <a:solidFill>
                  <a:srgbClr val="2A7EC8"/>
                </a:solidFill>
              </a:rPr>
              <a:t>flusso</a:t>
            </a:r>
            <a:endParaRPr sz="1600" dirty="0">
              <a:solidFill>
                <a:srgbClr val="2A7EC8"/>
              </a:solidFill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rgbClr val="2A7EC8"/>
                </a:solidFill>
              </a:rPr>
              <a:t>Agent Framework  —  ex Semantic Kernel, plugin e tool calling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rgbClr val="2A7EC8"/>
                </a:solidFill>
              </a:rPr>
              <a:t>Azure OpenAI  —  embedding e </a:t>
            </a:r>
            <a:r>
              <a:rPr sz="1600" dirty="0" err="1">
                <a:solidFill>
                  <a:srgbClr val="2A7EC8"/>
                </a:solidFill>
              </a:rPr>
              <a:t>generazione</a:t>
            </a:r>
            <a:endParaRPr sz="1600" dirty="0">
              <a:solidFill>
                <a:srgbClr val="2A7EC8"/>
              </a:solidFill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rgbClr val="2A7EC8"/>
                </a:solidFill>
              </a:rPr>
              <a:t>SQL Server  —  vector store e </a:t>
            </a:r>
            <a:r>
              <a:rPr sz="1600" dirty="0" err="1">
                <a:solidFill>
                  <a:srgbClr val="2A7EC8"/>
                </a:solidFill>
              </a:rPr>
              <a:t>ricerca</a:t>
            </a:r>
            <a:r>
              <a:rPr sz="1600" dirty="0">
                <a:solidFill>
                  <a:srgbClr val="2A7EC8"/>
                </a:solidFill>
              </a:rPr>
              <a:t> </a:t>
            </a:r>
            <a:r>
              <a:rPr lang="it-IT" sz="1600" dirty="0">
                <a:solidFill>
                  <a:srgbClr val="2A7EC8"/>
                </a:solidFill>
              </a:rPr>
              <a:t>vettoriale</a:t>
            </a:r>
            <a:endParaRPr sz="1600" dirty="0">
              <a:solidFill>
                <a:srgbClr val="2A7EC8"/>
              </a:solidFill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rgbClr val="2A7EC8"/>
                </a:solidFill>
              </a:rPr>
              <a:t>Azure AI Language  —  sentiment del testo in </a:t>
            </a:r>
            <a:r>
              <a:rPr sz="1600" dirty="0" err="1">
                <a:solidFill>
                  <a:srgbClr val="2A7EC8"/>
                </a:solidFill>
              </a:rPr>
              <a:t>ingresso</a:t>
            </a:r>
            <a:endParaRPr sz="1600" dirty="0">
              <a:solidFill>
                <a:srgbClr val="2A7EC8"/>
              </a:solidFill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rgbClr val="2A7EC8"/>
                </a:solidFill>
              </a:rPr>
              <a:t>SendGrid / SMTP  —  il </a:t>
            </a:r>
            <a:r>
              <a:rPr sz="1600" dirty="0" err="1">
                <a:solidFill>
                  <a:srgbClr val="2A7EC8"/>
                </a:solidFill>
              </a:rPr>
              <a:t>canale</a:t>
            </a:r>
            <a:r>
              <a:rPr sz="1600" dirty="0">
                <a:solidFill>
                  <a:srgbClr val="2A7EC8"/>
                </a:solidFill>
              </a:rPr>
              <a:t> di </a:t>
            </a:r>
            <a:r>
              <a:rPr sz="1600" dirty="0" err="1">
                <a:solidFill>
                  <a:srgbClr val="2A7EC8"/>
                </a:solidFill>
              </a:rPr>
              <a:t>risposta</a:t>
            </a:r>
            <a:r>
              <a:rPr sz="1600" dirty="0">
                <a:solidFill>
                  <a:srgbClr val="2A7EC8"/>
                </a:solidFill>
              </a:rPr>
              <a:t>, </a:t>
            </a:r>
            <a:r>
              <a:rPr sz="1600" dirty="0" err="1">
                <a:solidFill>
                  <a:srgbClr val="2A7EC8"/>
                </a:solidFill>
              </a:rPr>
              <a:t>oggi</a:t>
            </a:r>
            <a:r>
              <a:rPr sz="1600" dirty="0">
                <a:solidFill>
                  <a:srgbClr val="2A7EC8"/>
                </a:solidFill>
              </a:rPr>
              <a:t> </a:t>
            </a:r>
            <a:r>
              <a:rPr sz="1600" dirty="0" err="1">
                <a:solidFill>
                  <a:srgbClr val="2A7EC8"/>
                </a:solidFill>
              </a:rPr>
              <a:t>unico</a:t>
            </a:r>
            <a:endParaRPr sz="1600" dirty="0">
              <a:solidFill>
                <a:srgbClr val="2A7EC8"/>
              </a:solidFill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rgbClr val="2A7EC8"/>
                </a:solidFill>
              </a:rPr>
              <a:t>CRM  —  ticket e </a:t>
            </a:r>
            <a:r>
              <a:rPr sz="1600" dirty="0" err="1">
                <a:solidFill>
                  <a:srgbClr val="2A7EC8"/>
                </a:solidFill>
              </a:rPr>
              <a:t>soluzioni</a:t>
            </a:r>
            <a:r>
              <a:rPr sz="1600" dirty="0">
                <a:solidFill>
                  <a:srgbClr val="2A7EC8"/>
                </a:solidFill>
              </a:rPr>
              <a:t> </a:t>
            </a:r>
            <a:r>
              <a:rPr sz="1600" dirty="0" err="1">
                <a:solidFill>
                  <a:srgbClr val="2A7EC8"/>
                </a:solidFill>
              </a:rPr>
              <a:t>storiche</a:t>
            </a:r>
            <a:endParaRPr sz="1600" dirty="0">
              <a:solidFill>
                <a:srgbClr val="2A7EC8"/>
              </a:solidFill>
            </a:endParaRPr>
          </a:p>
          <a:p>
            <a:pPr>
              <a:lnSpc>
                <a:spcPct val="150000"/>
              </a:lnSpc>
            </a:pPr>
            <a:r>
              <a:rPr sz="1600" dirty="0">
                <a:solidFill>
                  <a:srgbClr val="2A7EC8"/>
                </a:solidFill>
              </a:rPr>
              <a:t>App Insights  —  prompt, tool </a:t>
            </a:r>
            <a:r>
              <a:rPr sz="1600" dirty="0" err="1">
                <a:solidFill>
                  <a:srgbClr val="2A7EC8"/>
                </a:solidFill>
              </a:rPr>
              <a:t>args</a:t>
            </a:r>
            <a:r>
              <a:rPr sz="1600" dirty="0">
                <a:solidFill>
                  <a:srgbClr val="2A7EC8"/>
                </a:solidFill>
              </a:rPr>
              <a:t>, </a:t>
            </a:r>
            <a:r>
              <a:rPr sz="1600" dirty="0" err="1">
                <a:solidFill>
                  <a:srgbClr val="2A7EC8"/>
                </a:solidFill>
              </a:rPr>
              <a:t>latenze</a:t>
            </a:r>
            <a:endParaRPr sz="1600" dirty="0">
              <a:solidFill>
                <a:srgbClr val="2A7EC8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FA47FAF-D60A-9F90-3A9B-42C92ECA3BE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00" y="1796203"/>
            <a:ext cx="304800" cy="3048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BE52D4FA-6764-2215-B5B3-76A76F120D2D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600" y="2251704"/>
            <a:ext cx="304800" cy="3048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5FB48290-9389-91EB-A796-A64DD96DB7A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600" y="2739104"/>
            <a:ext cx="304800" cy="3048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C3EC1829-B71F-6EF1-41F3-57B118B08DB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3600" y="3215871"/>
            <a:ext cx="304800" cy="3048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E84039D3-1847-CAB5-F84F-87BAD76ABE9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600" y="3682002"/>
            <a:ext cx="304800" cy="3048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AA62EECD-7FA2-EC99-95AC-17BBA4E3E68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3600" y="4201298"/>
            <a:ext cx="304800" cy="3048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5F993DFD-8ADA-58B9-E1A5-8166AF15D0AA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3600" y="4709960"/>
            <a:ext cx="304800" cy="3048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438BEAC-2663-0F13-6A84-7FE3113FC20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3600" y="5144196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SOTTO IL COFANO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550508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2A7EC8"/>
                </a:solidFill>
                <a:latin typeface="Calibri"/>
              </a:rPr>
              <a:t>Agent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2007708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1. Build AIAgent</a:t>
            </a:r>
          </a:p>
          <a:p>
            <a:endParaRPr sz="12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IChatClient + 2 tool CRM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62656" y="2007708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2. Chat messages</a:t>
            </a:r>
          </a:p>
          <a:p>
            <a:endParaRPr sz="12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System + user + tool msg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2007708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3. GPT-4o</a:t>
            </a:r>
          </a:p>
          <a:p>
            <a:endParaRPr sz="12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Automatic function calling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5472" y="2007708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4. Tool call</a:t>
            </a:r>
          </a:p>
          <a:p>
            <a:endParaRPr sz="12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Il modello sceglie la 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2007708"/>
            <a:ext cx="2011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5. Parse</a:t>
            </a:r>
          </a:p>
          <a:p>
            <a:endParaRPr sz="12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JSON → tabella 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379308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2A7EC8"/>
                </a:solidFill>
                <a:latin typeface="Calibri"/>
              </a:rPr>
              <a:t>Plugin e safeguard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836508"/>
            <a:ext cx="5166360" cy="1005840"/>
          </a:xfrm>
          <a:prstGeom prst="roundRect">
            <a:avLst/>
          </a:prstGeom>
          <a:solidFill>
            <a:srgbClr val="F0E840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cerca_ticket_con_soluzione</a:t>
            </a:r>
          </a:p>
          <a:p>
            <a:endParaRPr sz="13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→ full-text su 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3836508"/>
            <a:ext cx="5166360" cy="1005840"/>
          </a:xfrm>
          <a:prstGeom prst="roundRect">
            <a:avLst/>
          </a:prstGeom>
          <a:solidFill>
            <a:srgbClr val="F0E840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recupera_soluzioni_crm</a:t>
            </a:r>
          </a:p>
          <a:p>
            <a:endParaRPr sz="13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→ ticket e soluzione dal CRM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502522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2A7EC8"/>
                </a:solidFill>
                <a:latin typeface="Calibri"/>
              </a:rPr>
              <a:t>Production safeguards &amp;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345268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Max 3 iterazioni tool-call · timeout 30s · retry esponenziale · logging completo di prompt e tool args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777288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1A2E6E"/>
                </a:solidFill>
                <a:latin typeface="Calibri"/>
              </a:rPr>
              <a:t>Output </a:t>
            </a:r>
            <a:r>
              <a:rPr sz="1600" b="1" dirty="0" err="1">
                <a:solidFill>
                  <a:srgbClr val="1A2E6E"/>
                </a:solidFill>
                <a:latin typeface="Calibri"/>
              </a:rPr>
              <a:t>iniettato</a:t>
            </a:r>
            <a:r>
              <a:rPr sz="1600" b="1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1A2E6E"/>
                </a:solidFill>
                <a:latin typeface="Calibri"/>
              </a:rPr>
              <a:t>nella</a:t>
            </a:r>
            <a:r>
              <a:rPr sz="1600" b="1" dirty="0">
                <a:solidFill>
                  <a:srgbClr val="1A2E6E"/>
                </a:solidFill>
                <a:latin typeface="Calibri"/>
              </a:rPr>
              <a:t> mail helpdesk — human in the loop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Multicanalità non è un canale in più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28956"/>
              </p:ext>
            </p:extLst>
          </p:nvPr>
        </p:nvGraphicFramePr>
        <p:xfrm>
          <a:off x="841248" y="178308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ASSE</a:t>
                      </a:r>
                    </a:p>
                  </a:txBody>
                  <a:tcPr>
                    <a:solidFill>
                      <a:srgbClr val="1A2E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OGGI, VIA MAIL</a:t>
                      </a:r>
                    </a:p>
                  </a:txBody>
                  <a:tcPr>
                    <a:solidFill>
                      <a:srgbClr val="1A2E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SU UN CANALE CONVERSAZIONALE</a:t>
                      </a:r>
                    </a:p>
                  </a:txBody>
                  <a:tcPr>
                    <a:solidFill>
                      <a:srgbClr val="1A2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Identità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L'indirizzo mittente è l'identità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Token Entra, SSO, consenso, identità dell'agent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Stato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Una mail, una transazione — stateless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Sessione multi-turno, slot filling, contesto da conservare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Autorizzazione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Un solo attore: l'operatore helpdesk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Ogni utente del tenant, con permessi diversi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Forma della risposta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Tabella HTML in un corpo mail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Adaptive Card, citazioni inline, streaming, limiti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Human in the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Implicito: c'è una persona che invia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1A2E6E"/>
                          </a:solidFill>
                          <a:latin typeface="Calibri"/>
                        </a:rPr>
                        <a:t>Da </a:t>
                      </a:r>
                      <a:r>
                        <a:rPr sz="1600" b="0" dirty="0" err="1">
                          <a:solidFill>
                            <a:srgbClr val="1A2E6E"/>
                          </a:solidFill>
                          <a:latin typeface="Calibri"/>
                        </a:rPr>
                        <a:t>modellare</a:t>
                      </a:r>
                      <a:r>
                        <a:rPr sz="1600" b="0" dirty="0">
                          <a:solidFill>
                            <a:srgbClr val="1A2E6E"/>
                          </a:solidFill>
                          <a:latin typeface="Calibri"/>
                        </a:rPr>
                        <a:t>, o </a:t>
                      </a:r>
                      <a:r>
                        <a:rPr sz="1600" b="1" dirty="0" err="1">
                          <a:solidFill>
                            <a:srgbClr val="1A2E6E"/>
                          </a:solidFill>
                          <a:latin typeface="Calibri"/>
                        </a:rPr>
                        <a:t>scompare</a:t>
                      </a:r>
                      <a:r>
                        <a:rPr sz="1600" b="1" dirty="0">
                          <a:solidFill>
                            <a:srgbClr val="1A2E6E"/>
                          </a:solidFill>
                          <a:latin typeface="Calibri"/>
                        </a:rPr>
                        <a:t> senza </a:t>
                      </a:r>
                      <a:r>
                        <a:rPr sz="1600" b="1" dirty="0" err="1">
                          <a:solidFill>
                            <a:srgbClr val="1A2E6E"/>
                          </a:solidFill>
                          <a:latin typeface="Calibri"/>
                        </a:rPr>
                        <a:t>che</a:t>
                      </a:r>
                      <a:r>
                        <a:rPr sz="1600" b="1" dirty="0">
                          <a:solidFill>
                            <a:srgbClr val="1A2E6E"/>
                          </a:solidFill>
                          <a:latin typeface="Calibri"/>
                        </a:rPr>
                        <a:t> </a:t>
                      </a:r>
                      <a:r>
                        <a:rPr sz="1600" b="1" dirty="0" err="1">
                          <a:solidFill>
                            <a:srgbClr val="1A2E6E"/>
                          </a:solidFill>
                          <a:latin typeface="Calibri"/>
                        </a:rPr>
                        <a:t>nessuno</a:t>
                      </a:r>
                      <a:r>
                        <a:rPr sz="1600" b="1" dirty="0">
                          <a:solidFill>
                            <a:srgbClr val="1A2E6E"/>
                          </a:solidFill>
                          <a:latin typeface="Calibri"/>
                        </a:rPr>
                        <a:t> lo </a:t>
                      </a:r>
                      <a:r>
                        <a:rPr sz="1600" b="1" dirty="0" err="1">
                          <a:solidFill>
                            <a:srgbClr val="1A2E6E"/>
                          </a:solidFill>
                          <a:latin typeface="Calibri"/>
                        </a:rPr>
                        <a:t>decida</a:t>
                      </a:r>
                      <a:endParaRPr sz="1600" b="1" dirty="0">
                        <a:solidFill>
                          <a:srgbClr val="1A2E6E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Osservabilità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Log applicativi, App Insights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1A2E6E"/>
                          </a:solidFill>
                          <a:latin typeface="Calibri"/>
                        </a:rPr>
                        <a:t>Sessioni</a:t>
                      </a:r>
                      <a:r>
                        <a:rPr sz="1600" b="0" dirty="0">
                          <a:solidFill>
                            <a:srgbClr val="1A2E6E"/>
                          </a:solidFill>
                          <a:latin typeface="Calibri"/>
                        </a:rPr>
                        <a:t>, utterance non </a:t>
                      </a:r>
                      <a:r>
                        <a:rPr sz="1600" b="0" dirty="0" err="1">
                          <a:solidFill>
                            <a:srgbClr val="1A2E6E"/>
                          </a:solidFill>
                          <a:latin typeface="Calibri"/>
                        </a:rPr>
                        <a:t>matchate</a:t>
                      </a:r>
                      <a:r>
                        <a:rPr sz="1600" b="0" dirty="0">
                          <a:solidFill>
                            <a:srgbClr val="1A2E6E"/>
                          </a:solidFill>
                          <a:latin typeface="Calibri"/>
                        </a:rPr>
                        <a:t>, resolution rate per </a:t>
                      </a:r>
                      <a:r>
                        <a:rPr sz="1600" b="0" dirty="0" err="1">
                          <a:solidFill>
                            <a:srgbClr val="1A2E6E"/>
                          </a:solidFill>
                          <a:latin typeface="Calibri"/>
                        </a:rPr>
                        <a:t>canale</a:t>
                      </a:r>
                      <a:endParaRPr sz="1600" b="0" dirty="0">
                        <a:solidFill>
                          <a:srgbClr val="1A2E6E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4000" y="1651000"/>
            <a:ext cx="4064000" cy="1016000"/>
          </a:xfrm>
        </p:spPr>
        <p:txBody>
          <a:bodyPr/>
          <a:lstStyle/>
          <a:p>
            <a:r>
              <a:rPr dirty="0"/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74000" y="2921000"/>
            <a:ext cx="4064000" cy="2286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Il sistema custom in produzione: mail in ingresso, tre suggerimenti, l'operatore che sceglie.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F90580-7B06-41AE-1E54-5BEF075E4BA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778000"/>
            <a:ext cx="7112000" cy="40005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3" name="Picture 2" descr="image15.png"/>
          <p:cNvPicPr>
            <a:picLocks noChangeAspect="1"/>
          </p:cNvPicPr>
          <p:nvPr/>
        </p:nvPicPr>
        <p:blipFill>
          <a:blip r:embed="rId3"/>
          <a:srcRect t="2800" b="4673"/>
          <a:stretch>
            <a:fillRect/>
          </a:stretch>
        </p:blipFill>
        <p:spPr>
          <a:xfrm>
            <a:off x="0" y="0"/>
            <a:ext cx="12192000" cy="6301409"/>
          </a:xfrm>
          <a:prstGeom prst="rect">
            <a:avLst/>
          </a:prstGeom>
        </p:spPr>
      </p:pic>
      <p:sp>
        <p:nvSpPr>
          <p:cNvPr id="4" name="Rounded Rectangular Callout 3"/>
          <p:cNvSpPr/>
          <p:nvPr/>
        </p:nvSpPr>
        <p:spPr>
          <a:xfrm>
            <a:off x="9305200" y="365125"/>
            <a:ext cx="2872408" cy="2182633"/>
          </a:xfrm>
          <a:prstGeom prst="wedgeRoundRectCallout">
            <a:avLst>
              <a:gd name="adj1" fmla="val -73082"/>
              <a:gd name="adj2" fmla="val 37454"/>
              <a:gd name="adj3" fmla="val 16667"/>
            </a:avLst>
          </a:prstGeom>
          <a:solidFill>
            <a:srgbClr val="F0E840"/>
          </a:solidFill>
          <a:ln w="1905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l"/>
            <a:r>
              <a:rPr sz="1600">
                <a:solidFill>
                  <a:srgbClr val="1A2E6E"/>
                </a:solidFill>
                <a:latin typeface="Calibri"/>
              </a:rPr>
              <a:t>Ok, Davide. Funziona. Ma cosa rispondiamo al CDA? Possiamo aprire altri canali in tempi ragionevoli con questo approccio?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539496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 b="1">
                <a:solidFill>
                  <a:srgbClr val="2A7EC8"/>
                </a:solidFill>
                <a:latin typeface="Calibri"/>
              </a:rPr>
              <a:t>— Chiara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PIATTAFORMA</a:t>
            </a:r>
          </a:p>
        </p:txBody>
      </p:sp>
      <p:sp>
        <p:nvSpPr>
          <p:cNvPr id="3" name="Rounded Rectangular Callout 2"/>
          <p:cNvSpPr/>
          <p:nvPr/>
        </p:nvSpPr>
        <p:spPr>
          <a:xfrm>
            <a:off x="274320" y="1265274"/>
            <a:ext cx="3255689" cy="1956391"/>
          </a:xfrm>
          <a:prstGeom prst="wedgeRoundRectCallout">
            <a:avLst>
              <a:gd name="adj1" fmla="val 60359"/>
              <a:gd name="adj2" fmla="val -32935"/>
              <a:gd name="adj3" fmla="val 16667"/>
            </a:avLst>
          </a:prstGeom>
          <a:solidFill>
            <a:srgbClr val="F0E840"/>
          </a:solidFill>
          <a:ln w="254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r>
              <a:rPr sz="1600" dirty="0">
                <a:solidFill>
                  <a:srgbClr val="1A2E6E"/>
                </a:solidFill>
                <a:latin typeface="Calibri"/>
              </a:rPr>
              <a:t>"Sono un po'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scettico</a:t>
            </a:r>
            <a:r>
              <a:rPr sz="1600" dirty="0">
                <a:solidFill>
                  <a:srgbClr val="1A2E6E"/>
                </a:solidFill>
                <a:latin typeface="Calibri"/>
              </a:rPr>
              <a:t>, lo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sapete</a:t>
            </a:r>
            <a:r>
              <a:rPr sz="1600" dirty="0">
                <a:solidFill>
                  <a:srgbClr val="1A2E6E"/>
                </a:solidFill>
                <a:latin typeface="Calibri"/>
              </a:rPr>
              <a:t>. Ma se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i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dati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e la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piattaforma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sono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solidi,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sono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pronto a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ricredermi</a:t>
            </a:r>
            <a:r>
              <a:rPr sz="1600" dirty="0">
                <a:solidFill>
                  <a:srgbClr val="1A2E6E"/>
                </a:solidFill>
                <a:latin typeface="Calibri"/>
              </a:rPr>
              <a:t>."</a:t>
            </a:r>
          </a:p>
          <a:p>
            <a:endParaRPr sz="1600" dirty="0">
              <a:solidFill>
                <a:srgbClr val="1A2E6E"/>
              </a:solidFill>
              <a:latin typeface="Calibri"/>
            </a:endParaRPr>
          </a:p>
          <a:p>
            <a:pPr algn="ctr"/>
            <a:r>
              <a:rPr sz="1600" b="1" dirty="0">
                <a:solidFill>
                  <a:srgbClr val="2A7EC8"/>
                </a:solidFill>
                <a:latin typeface="Calibri"/>
              </a:rPr>
              <a:t>NON L'HA MAI USATO SERIAMENTE</a:t>
            </a:r>
          </a:p>
        </p:txBody>
      </p:sp>
      <p:sp>
        <p:nvSpPr>
          <p:cNvPr id="4" name="Rounded Rectangular Callout 3"/>
          <p:cNvSpPr/>
          <p:nvPr/>
        </p:nvSpPr>
        <p:spPr>
          <a:xfrm>
            <a:off x="8933264" y="287078"/>
            <a:ext cx="3255688" cy="1956391"/>
          </a:xfrm>
          <a:prstGeom prst="wedgeRoundRectCallout">
            <a:avLst>
              <a:gd name="adj1" fmla="val -61249"/>
              <a:gd name="adj2" fmla="val 58370"/>
              <a:gd name="adj3" fmla="val 16667"/>
            </a:avLst>
          </a:prstGeom>
          <a:solidFill>
            <a:srgbClr val="F0E840"/>
          </a:solidFill>
          <a:ln w="254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228600" bIns="182880" rtlCol="0" anchor="ctr"/>
          <a:lstStyle/>
          <a:p>
            <a:r>
              <a:rPr sz="1600" dirty="0">
                <a:solidFill>
                  <a:srgbClr val="1A2E6E"/>
                </a:solidFill>
                <a:latin typeface="Calibri"/>
              </a:rPr>
              <a:t>"Non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sono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mai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andata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in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produzione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con Power Platform, ma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guarda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qui. Vale la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pena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ricostruire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il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sistema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su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Copilot Studio?"</a:t>
            </a:r>
          </a:p>
          <a:p>
            <a:endParaRPr sz="1600" dirty="0">
              <a:solidFill>
                <a:srgbClr val="1A2E6E"/>
              </a:solidFill>
              <a:latin typeface="Calibri"/>
            </a:endParaRPr>
          </a:p>
          <a:p>
            <a:pPr algn="ctr"/>
            <a:r>
              <a:rPr sz="1600" b="1" dirty="0">
                <a:solidFill>
                  <a:srgbClr val="2A7EC8"/>
                </a:solidFill>
                <a:latin typeface="Calibri"/>
              </a:rPr>
              <a:t>UN WORKSHOP, SEI MESI FA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 presento Coppy</a:t>
            </a:r>
          </a:p>
        </p:txBody>
      </p:sp>
      <p:pic>
        <p:nvPicPr>
          <p:cNvPr id="3" name="Picture 2" descr="Cop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83080"/>
            <a:ext cx="5846308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0" y="3291840"/>
            <a:ext cx="566928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2A7EC8"/>
                </a:solidFill>
                <a:latin typeface="Calibri"/>
              </a:rPr>
              <a:t>La nostra guida per orientarci in Copilot Studio e, più in generale, nella piattaforma Microsoft 365.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 POWER VIRTUAL AGENTS AD AGENT 365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2011680"/>
            <a:ext cx="2057400" cy="548640"/>
          </a:xfrm>
          <a:prstGeom prst="roundRect">
            <a:avLst/>
          </a:prstGeom>
          <a:solidFill>
            <a:srgbClr val="1A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2019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2651760"/>
            <a:ext cx="2057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Power Virtual Agents</a:t>
            </a:r>
          </a:p>
          <a:p>
            <a:endParaRPr sz="14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Builder low-code di chatbot su Power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90088" y="2011680"/>
            <a:ext cx="2057400" cy="548640"/>
          </a:xfrm>
          <a:prstGeom prst="roundRect">
            <a:avLst/>
          </a:prstGeom>
          <a:solidFill>
            <a:srgbClr val="1A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Nov 2023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90088" y="2651760"/>
            <a:ext cx="2057400" cy="2286000"/>
          </a:xfrm>
          <a:prstGeom prst="roundRect">
            <a:avLst/>
          </a:prstGeom>
          <a:solidFill>
            <a:srgbClr val="F0E840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Rebrand a Copilot Studio</a:t>
            </a:r>
          </a:p>
          <a:p>
            <a:endParaRPr sz="14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Aggiunge generative answers e integrazione M365 Copilot.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38928" y="2011680"/>
            <a:ext cx="2057400" cy="548640"/>
          </a:xfrm>
          <a:prstGeom prst="roundRect">
            <a:avLst/>
          </a:prstGeom>
          <a:solidFill>
            <a:srgbClr val="1A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38928" y="2651760"/>
            <a:ext cx="2057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Agents + Orchestration</a:t>
            </a:r>
          </a:p>
          <a:p>
            <a:endParaRPr sz="14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Generative orchestration, declarative agents, MCP.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87768" y="2011680"/>
            <a:ext cx="2057400" cy="548640"/>
          </a:xfrm>
          <a:prstGeom prst="roundRect">
            <a:avLst/>
          </a:prstGeom>
          <a:solidFill>
            <a:srgbClr val="1A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87768" y="2651760"/>
            <a:ext cx="2057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Autonomous agents</a:t>
            </a:r>
          </a:p>
          <a:p>
            <a:endParaRPr sz="14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Trigger event-driven, workflow multi-step.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36608" y="2011680"/>
            <a:ext cx="2057400" cy="548640"/>
          </a:xfrm>
          <a:prstGeom prst="roundRect">
            <a:avLst/>
          </a:prstGeom>
          <a:solidFill>
            <a:srgbClr val="1A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2651760"/>
            <a:ext cx="2057400" cy="2286000"/>
          </a:xfrm>
          <a:prstGeom prst="roundRect">
            <a:avLst/>
          </a:prstGeom>
          <a:solidFill>
            <a:srgbClr val="2A7EC8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Agent 365</a:t>
            </a:r>
          </a:p>
          <a:p>
            <a:endParaRPr sz="1400" b="1">
              <a:solidFill>
                <a:srgbClr val="FFFFFF"/>
              </a:solidFill>
              <a:latin typeface="Calibri"/>
            </a:endParaRPr>
          </a:p>
          <a:p>
            <a:r>
              <a:rPr sz="1600">
                <a:solidFill>
                  <a:srgbClr val="FFFFFF"/>
                </a:solidFill>
                <a:latin typeface="Calibri"/>
              </a:rPr>
              <a:t>Il piano di controllo trasversale per governare tutti gli agent.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120640"/>
            <a:ext cx="10515600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Calibri"/>
              </a:rPr>
              <a:t>Il rebrand del 2023 è la vera discontinuità: da flussi rigidi a conversazioni guidate da un modello. Il 2026 aggiunge il livello che mancava — non un builder migliore, un piano di controllo.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00" y="274320"/>
            <a:ext cx="1461577" cy="8229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 MOTORI SOTTO LO STESSO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5156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Copilot Studio esegue quello che disegni su uno di tre motori (harness). La scelta si fa in creazione e non è convertibile.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2057400"/>
            <a:ext cx="5166360" cy="192024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STANDARD HARNESS</a:t>
            </a:r>
          </a:p>
          <a:p>
            <a:endParaRPr sz="16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Agenti a regole: topic e flussi disegnati. Il default di Copilot Studio.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90488" y="2057400"/>
            <a:ext cx="5166360" cy="1920240"/>
          </a:xfrm>
          <a:prstGeom prst="roundRect">
            <a:avLst/>
          </a:prstGeom>
          <a:solidFill>
            <a:srgbClr val="F0E840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GITHUB COPILOT HARNESS</a:t>
            </a:r>
          </a:p>
          <a:p>
            <a:endParaRPr sz="16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Ragionamento multi-step, tool calling dinamico, file nativi, sandbox. Sempre a Credits.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4160520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COPILOT CHAT HARNESS</a:t>
            </a:r>
          </a:p>
          <a:p>
            <a:endParaRPr sz="16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Estende M365 Copilot Chat con knowledge aziendale. In licenza M365 Copilot.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4160520"/>
            <a:ext cx="5166360" cy="1920240"/>
          </a:xfrm>
          <a:prstGeom prst="roundRect">
            <a:avLst/>
          </a:prstGeom>
          <a:solidFill>
            <a:srgbClr val="1A2E6E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COME SI SCEGLIE</a:t>
            </a:r>
          </a:p>
          <a:p>
            <a:endParaRPr sz="1600" b="1">
              <a:solidFill>
                <a:srgbClr val="FFFFFF"/>
              </a:solidFill>
              <a:latin typeface="Calibri"/>
            </a:endParaRPr>
          </a:p>
          <a:p>
            <a:r>
              <a:rPr sz="1600">
                <a:solidFill>
                  <a:srgbClr val="FFFFFF"/>
                </a:solidFill>
                <a:latin typeface="Calibri"/>
              </a:rPr>
              <a:t>Regole → Standard. Multi-step + file → GitHub Copilot. Estensione chat M365 → Chat. Non convertibile.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08" y="274320"/>
            <a:ext cx="1461577" cy="8229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 COS'È COPILOT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5156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2A7EC8"/>
                </a:solidFill>
                <a:latin typeface="Calibri"/>
              </a:rPr>
              <a:t>Piattaforma low-code/pro-code per creare agenti conversazionali personalizzati.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676752"/>
            <a:ext cx="10515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dirty="0" err="1">
                <a:solidFill>
                  <a:srgbClr val="333333"/>
                </a:solidFill>
                <a:latin typeface="Calibri"/>
              </a:rPr>
              <a:t>Parte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 di Microsoft Power Platform. Si integra con Microsoft 365, Azure OpenAI e Dataverse.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097802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LOW-CODE, NON NO-CODE</a:t>
            </a:r>
          </a:p>
          <a:p>
            <a:endParaRPr sz="15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Drag-and-drop, ma anche authoring generativo con istruzioni in linguaggio naturale.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2097802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ENTERPRISE-GRADE</a:t>
            </a:r>
          </a:p>
          <a:p>
            <a:endParaRPr sz="15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Governance, DLP, SSO Entra ID, conformità Microsoft — inclusi, non da costruire.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4200922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MULTICANALE</a:t>
            </a:r>
          </a:p>
          <a:p>
            <a:endParaRPr sz="15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Teams, web, M365 Copilot, Outlook, app custom: la pubblicazione è configurazione.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4200922"/>
            <a:ext cx="51663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 dirty="0">
                <a:solidFill>
                  <a:srgbClr val="1A2E6E"/>
                </a:solidFill>
                <a:latin typeface="Calibri"/>
              </a:rPr>
              <a:t>ESTENSIBILE</a:t>
            </a:r>
          </a:p>
          <a:p>
            <a:endParaRPr sz="1500" b="1" dirty="0">
              <a:solidFill>
                <a:srgbClr val="1A2E6E"/>
              </a:solidFill>
              <a:latin typeface="Calibri"/>
            </a:endParaRPr>
          </a:p>
          <a:p>
            <a:r>
              <a:rPr sz="1600" dirty="0">
                <a:solidFill>
                  <a:srgbClr val="1A2E6E"/>
                </a:solidFill>
                <a:latin typeface="Calibri"/>
              </a:rPr>
              <a:t>Power Automate,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oltre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mille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connettori</a:t>
            </a:r>
            <a:r>
              <a:rPr sz="1600" dirty="0">
                <a:solidFill>
                  <a:srgbClr val="1A2E6E"/>
                </a:solidFill>
                <a:latin typeface="Calibri"/>
              </a:rPr>
              <a:t>, HTTP action, </a:t>
            </a:r>
            <a:r>
              <a:rPr sz="1600" b="1" dirty="0">
                <a:solidFill>
                  <a:srgbClr val="1A2E6E"/>
                </a:solidFill>
                <a:latin typeface="Calibri"/>
              </a:rPr>
              <a:t>MCP</a:t>
            </a:r>
            <a:r>
              <a:rPr sz="1600" dirty="0">
                <a:solidFill>
                  <a:srgbClr val="1A2E6E"/>
                </a:solidFill>
                <a:latin typeface="Calibri"/>
              </a:rPr>
              <a:t>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00" y="274320"/>
            <a:ext cx="1461577" cy="8229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DOVE VIVE NELLO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371600"/>
            <a:ext cx="105156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2A7EC8"/>
                </a:solidFill>
                <a:latin typeface="Calibri"/>
              </a:rPr>
              <a:t>Posizionamento nello stack Microsoft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920240"/>
            <a:ext cx="2011680" cy="960120"/>
          </a:xfrm>
          <a:prstGeom prst="roundRect">
            <a:avLst/>
          </a:prstGeom>
          <a:solidFill>
            <a:srgbClr val="2A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103120"/>
            <a:ext cx="832104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Teams  ·  Outlook  ·  Web chat  ·  M365 Copilot  ·  mobile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971800"/>
            <a:ext cx="2011680" cy="960120"/>
          </a:xfrm>
          <a:prstGeom prst="roundRect">
            <a:avLst/>
          </a:prstGeom>
          <a:solidFill>
            <a:srgbClr val="F0E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1A2E6E"/>
                </a:solidFill>
                <a:latin typeface="Calibri"/>
              </a:rPr>
              <a:t>Authoring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154680"/>
            <a:ext cx="832104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Copilot Studio — topic, knowledge, action.  Siamo qui.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023360"/>
            <a:ext cx="2011680" cy="960120"/>
          </a:xfrm>
          <a:prstGeom prst="roundRect">
            <a:avLst/>
          </a:prstGeom>
          <a:solidFill>
            <a:srgbClr val="2A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Runtime e dati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4206240"/>
            <a:ext cx="832104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Azure OpenAI  ·  Power Platform runtime  ·  Dataverse  ·  Power Automate  ·  connettori  ·  MCP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5074920"/>
            <a:ext cx="2011680" cy="960120"/>
          </a:xfrm>
          <a:prstGeom prst="roundRect">
            <a:avLst/>
          </a:prstGeom>
          <a:solidFill>
            <a:srgbClr val="1A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257800"/>
            <a:ext cx="8321040" cy="59436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Power Platform Admin Center  ·  Purview  ·  Entra ID  ·  Agent 365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740" y="274320"/>
            <a:ext cx="1461577" cy="8229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365 — IL PIANO DI CONTROLLO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828800"/>
            <a:ext cx="5166360" cy="39446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381692" y="1965960"/>
            <a:ext cx="3516187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2A7EC8"/>
                </a:solidFill>
                <a:latin typeface="Calibri"/>
              </a:rPr>
              <a:t>Cosa porta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15333"/>
            <a:ext cx="4892040" cy="2922595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20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•  Registry —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inventario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di tutti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gli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agent del tenant</a:t>
            </a:r>
          </a:p>
          <a:p>
            <a:pPr algn="l">
              <a:lnSpc>
                <a:spcPct val="20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•  Entra Agent ID — ogni agent è un principal con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identità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propria</a:t>
            </a:r>
          </a:p>
          <a:p>
            <a:pPr algn="l">
              <a:lnSpc>
                <a:spcPct val="20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•  Lifecycle — provisioning, ownership,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dismissione</a:t>
            </a:r>
            <a:endParaRPr sz="1600" b="0" dirty="0">
              <a:solidFill>
                <a:srgbClr val="1A2E6E"/>
              </a:solidFill>
              <a:latin typeface="Calibri"/>
            </a:endParaRPr>
          </a:p>
          <a:p>
            <a:pPr algn="l">
              <a:lnSpc>
                <a:spcPct val="20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•  Policy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trasversali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— DLP e conditional access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sugli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agent</a:t>
            </a:r>
          </a:p>
          <a:p>
            <a:pPr algn="l">
              <a:lnSpc>
                <a:spcPct val="20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Osservabilità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aggregata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su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piattaforme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diverse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1828800"/>
            <a:ext cx="5166360" cy="3944679"/>
          </a:xfrm>
          <a:prstGeom prst="roundRect">
            <a:avLst/>
          </a:prstGeom>
          <a:solidFill>
            <a:srgbClr val="1A2E6E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83302" y="1965960"/>
            <a:ext cx="3963818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 err="1">
                <a:solidFill>
                  <a:srgbClr val="F0E840"/>
                </a:solidFill>
                <a:latin typeface="Calibri"/>
              </a:rPr>
              <a:t>Perché</a:t>
            </a:r>
            <a:r>
              <a:rPr sz="1600" b="1" dirty="0">
                <a:solidFill>
                  <a:srgbClr val="F0E840"/>
                </a:solidFill>
                <a:latin typeface="Calibri"/>
              </a:rPr>
              <a:t> cambia la </a:t>
            </a:r>
            <a:r>
              <a:rPr sz="1600" b="1" dirty="0" err="1">
                <a:solidFill>
                  <a:srgbClr val="F0E840"/>
                </a:solidFill>
                <a:latin typeface="Calibri"/>
              </a:rPr>
              <a:t>decisione</a:t>
            </a:r>
            <a:endParaRPr sz="1600" b="1" dirty="0">
              <a:solidFill>
                <a:srgbClr val="F0E84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55080" y="2455828"/>
            <a:ext cx="4892040" cy="2884123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FFFFFF"/>
                </a:solidFill>
                <a:latin typeface="Calibri"/>
              </a:rPr>
              <a:t>Un agent custom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su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Azure è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governabile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, ma la governance la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si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costruisce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.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Registrato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nel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registry, lo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stesso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agent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eredita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identità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e policy dal piano di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controllo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senza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essere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riscritto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.</a:t>
            </a:r>
          </a:p>
          <a:p>
            <a:pPr algn="l">
              <a:lnSpc>
                <a:spcPct val="150000"/>
              </a:lnSpc>
            </a:pPr>
            <a:endParaRPr sz="1300" b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FFFFFF"/>
                </a:solidFill>
                <a:latin typeface="Calibri"/>
              </a:rPr>
              <a:t>È il primo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argomento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che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spinge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verso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l'integrazione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invece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della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migrazione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si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prende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la governance della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piattaforma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senza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cedere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il runtime.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5" y="274320"/>
            <a:ext cx="1461577" cy="8229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Il conto della multicanalità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828800"/>
            <a:ext cx="5166360" cy="502920"/>
          </a:xfrm>
          <a:prstGeom prst="roundRect">
            <a:avLst/>
          </a:prstGeom>
          <a:solidFill>
            <a:srgbClr val="2A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Piattaforma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0488" y="1828800"/>
            <a:ext cx="5166360" cy="502920"/>
          </a:xfrm>
          <a:prstGeom prst="roundRect">
            <a:avLst/>
          </a:prstGeom>
          <a:solidFill>
            <a:srgbClr val="1A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Custom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732626"/>
            <a:ext cx="4846320" cy="2214709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just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Consumo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a Copilot Credits (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unità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unica,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sostituisce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messaggi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Oppure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capacità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prepagata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a tenant</a:t>
            </a:r>
          </a:p>
          <a:p>
            <a:pPr algn="just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•  Add-on se il tenant ha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già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M365</a:t>
            </a:r>
          </a:p>
          <a:p>
            <a:pPr algn="just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•  Teams e SharePoint non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costano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un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canale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in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più</a:t>
            </a:r>
            <a:endParaRPr sz="1600" b="0" dirty="0">
              <a:solidFill>
                <a:srgbClr val="1A2E6E"/>
              </a:solidFill>
              <a:latin typeface="Calibri"/>
            </a:endParaRPr>
          </a:p>
          <a:p>
            <a:pPr algn="just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•  Trial 30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giorni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e Developer Plan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bastano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per la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2733267"/>
            <a:ext cx="4846320" cy="1106713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•  Token Azure OpenAI, hosting, vector store</a:t>
            </a:r>
          </a:p>
          <a:p>
            <a:pPr algn="just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•  Ogni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canale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è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sviluppo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: bot, auth, card, test</a:t>
            </a:r>
          </a:p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Manutenzione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per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canale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, non solo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6692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 dirty="0">
                <a:solidFill>
                  <a:srgbClr val="2A7EC8"/>
                </a:solidFill>
                <a:latin typeface="Calibri"/>
              </a:rPr>
              <a:t>Il </a:t>
            </a:r>
            <a:r>
              <a:rPr sz="1600" b="1" dirty="0" err="1">
                <a:solidFill>
                  <a:srgbClr val="2A7EC8"/>
                </a:solidFill>
                <a:latin typeface="Calibri"/>
              </a:rPr>
              <a:t>costo</a:t>
            </a:r>
            <a:r>
              <a:rPr sz="1600" b="1" dirty="0">
                <a:solidFill>
                  <a:srgbClr val="2A7EC8"/>
                </a:solidFill>
                <a:latin typeface="Calibri"/>
              </a:rPr>
              <a:t> low-code scala col </a:t>
            </a:r>
            <a:r>
              <a:rPr sz="1600" b="1" dirty="0" err="1">
                <a:solidFill>
                  <a:srgbClr val="2A7EC8"/>
                </a:solidFill>
                <a:latin typeface="Calibri"/>
              </a:rPr>
              <a:t>traffico</a:t>
            </a:r>
            <a:r>
              <a:rPr sz="1600" b="1" dirty="0">
                <a:solidFill>
                  <a:srgbClr val="2A7EC8"/>
                </a:solidFill>
                <a:latin typeface="Calibri"/>
              </a:rPr>
              <a:t>. Quello custom scala col </a:t>
            </a:r>
            <a:r>
              <a:rPr sz="1600" b="1" dirty="0" err="1">
                <a:solidFill>
                  <a:srgbClr val="2A7EC8"/>
                </a:solidFill>
                <a:latin typeface="Calibri"/>
              </a:rPr>
              <a:t>numero</a:t>
            </a:r>
            <a:r>
              <a:rPr sz="1600" b="1" dirty="0">
                <a:solidFill>
                  <a:srgbClr val="2A7EC8"/>
                </a:solidFill>
                <a:latin typeface="Calibri"/>
              </a:rPr>
              <a:t> di </a:t>
            </a:r>
            <a:r>
              <a:rPr sz="1600" b="1" dirty="0" err="1">
                <a:solidFill>
                  <a:srgbClr val="2A7EC8"/>
                </a:solidFill>
                <a:latin typeface="Calibri"/>
              </a:rPr>
              <a:t>canali</a:t>
            </a:r>
            <a:r>
              <a:rPr sz="1600" b="1" dirty="0">
                <a:solidFill>
                  <a:srgbClr val="2A7EC8"/>
                </a:solidFill>
                <a:latin typeface="Calibri"/>
              </a:rPr>
              <a:t> e con la </a:t>
            </a:r>
            <a:r>
              <a:rPr sz="1600" b="1" dirty="0" err="1">
                <a:solidFill>
                  <a:srgbClr val="2A7EC8"/>
                </a:solidFill>
                <a:latin typeface="Calibri"/>
              </a:rPr>
              <a:t>dimensione</a:t>
            </a:r>
            <a:r>
              <a:rPr sz="1600" b="1" dirty="0">
                <a:solidFill>
                  <a:srgbClr val="2A7EC8"/>
                </a:solidFill>
                <a:latin typeface="Calibri"/>
              </a:rPr>
              <a:t> del team.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Anatomia di un agent, col parallelo al codice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41732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2A7EC8"/>
                </a:solidFill>
                <a:latin typeface="Calibri"/>
              </a:rPr>
              <a:t>I quattro pilastri di Copilot Studio e il loro parallelo nel codice custom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874520"/>
            <a:ext cx="51663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965960"/>
            <a:ext cx="48920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2A7EC8"/>
                </a:solidFill>
                <a:latin typeface="Calibri"/>
              </a:rPr>
              <a:t>Topics  ·  Router conversazionale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468880"/>
            <a:ext cx="4892040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1A2E6E"/>
                </a:solidFill>
                <a:latin typeface="Calibri"/>
              </a:rPr>
              <a:t>Copilot Studio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: Trigger phrase,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condizioni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e action in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una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GUI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visuale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108960"/>
            <a:ext cx="489204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333333"/>
                </a:solidFill>
                <a:latin typeface="Calibri"/>
              </a:rPr>
              <a:t>Custom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: Dispatcher C# con intent recognition e regex.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874520"/>
            <a:ext cx="51663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27648" y="1965960"/>
            <a:ext cx="48920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2A7EC8"/>
                </a:solidFill>
                <a:latin typeface="Calibri"/>
              </a:rPr>
              <a:t>Entities  ·  Estrazione parametri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7648" y="2468880"/>
            <a:ext cx="4892040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1A2E6E"/>
                </a:solidFill>
                <a:latin typeface="Calibri"/>
              </a:rPr>
              <a:t>Copilot Studio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: Slot filling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automatico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che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estrae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e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valida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parametri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3108960"/>
            <a:ext cx="489204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333333"/>
                </a:solidFill>
                <a:latin typeface="Calibri"/>
              </a:rPr>
              <a:t>Custom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: Parsing del </a:t>
            </a:r>
            <a:r>
              <a:rPr sz="1600" b="0" dirty="0" err="1">
                <a:solidFill>
                  <a:srgbClr val="333333"/>
                </a:solidFill>
                <a:latin typeface="Calibri"/>
              </a:rPr>
              <a:t>corpo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 mail con regex e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3931919"/>
            <a:ext cx="51663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8" y="4023359"/>
            <a:ext cx="48920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2A7EC8"/>
                </a:solidFill>
                <a:latin typeface="Calibri"/>
              </a:rPr>
              <a:t>Variables  ·  Stato e contesto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4526279"/>
            <a:ext cx="489204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1A2E6E"/>
                </a:solidFill>
                <a:latin typeface="Calibri"/>
              </a:rPr>
              <a:t>Copilot Studio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: Scope global e local per lo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stato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fra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turni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5166359"/>
            <a:ext cx="4892040" cy="28315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333333"/>
                </a:solidFill>
                <a:latin typeface="Calibri"/>
              </a:rPr>
              <a:t>Custom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333333"/>
                </a:solidFill>
                <a:latin typeface="Calibri"/>
              </a:rPr>
              <a:t>Contesto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 async e state management via DI.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931919"/>
            <a:ext cx="516636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27648" y="4023359"/>
            <a:ext cx="48920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2A7EC8"/>
                </a:solidFill>
                <a:latin typeface="Calibri"/>
              </a:rPr>
              <a:t>Actions  ·  Integrazione servizi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4526279"/>
            <a:ext cx="4892040" cy="52937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1A2E6E"/>
                </a:solidFill>
                <a:latin typeface="Calibri"/>
              </a:rPr>
              <a:t>Copilot Studio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: HTTP action, Power Automate,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connettori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, prompt AI Builder.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5166359"/>
            <a:ext cx="48920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>
                <a:solidFill>
                  <a:srgbClr val="333333"/>
                </a:solidFill>
                <a:latin typeface="Calibri"/>
              </a:rPr>
              <a:t>Custom</a:t>
            </a:r>
            <a:r>
              <a:rPr sz="1600" b="0" dirty="0">
                <a:solidFill>
                  <a:srgbClr val="333333"/>
                </a:solidFill>
                <a:latin typeface="Calibri"/>
              </a:rPr>
              <a:t>: Service call verso Agent Framework, SendGrid e CRM.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913831"/>
            <a:ext cx="10515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 dirty="0">
                <a:solidFill>
                  <a:srgbClr val="2A7EC8"/>
                </a:solidFill>
                <a:latin typeface="Calibri"/>
              </a:rPr>
              <a:t>Copilot Studio </a:t>
            </a:r>
            <a:r>
              <a:rPr sz="1600" b="1" dirty="0" err="1">
                <a:solidFill>
                  <a:srgbClr val="2A7EC8"/>
                </a:solidFill>
                <a:latin typeface="Calibri"/>
              </a:rPr>
              <a:t>astrae</a:t>
            </a:r>
            <a:r>
              <a:rPr sz="1600" b="1" dirty="0">
                <a:solidFill>
                  <a:srgbClr val="2A7EC8"/>
                </a:solidFill>
                <a:latin typeface="Calibri"/>
              </a:rPr>
              <a:t> la </a:t>
            </a:r>
            <a:r>
              <a:rPr sz="1600" b="1" dirty="0" err="1">
                <a:solidFill>
                  <a:srgbClr val="2A7EC8"/>
                </a:solidFill>
                <a:latin typeface="Calibri"/>
              </a:rPr>
              <a:t>complessità</a:t>
            </a:r>
            <a:r>
              <a:rPr sz="1600" b="1" dirty="0">
                <a:solidFill>
                  <a:srgbClr val="2A7EC8"/>
                </a:solidFill>
                <a:latin typeface="Calibri"/>
              </a:rPr>
              <a:t> ma </a:t>
            </a:r>
            <a:r>
              <a:rPr sz="1600" b="1" dirty="0" err="1">
                <a:solidFill>
                  <a:srgbClr val="2A7EC8"/>
                </a:solidFill>
                <a:latin typeface="Calibri"/>
              </a:rPr>
              <a:t>mantiene</a:t>
            </a:r>
            <a:r>
              <a:rPr sz="1600" b="1" dirty="0">
                <a:solidFill>
                  <a:srgbClr val="2A7EC8"/>
                </a:solidFill>
                <a:latin typeface="Calibri"/>
              </a:rPr>
              <a:t> la </a:t>
            </a:r>
            <a:r>
              <a:rPr sz="1600" b="1" dirty="0" err="1">
                <a:solidFill>
                  <a:srgbClr val="2A7EC8"/>
                </a:solidFill>
                <a:latin typeface="Calibri"/>
              </a:rPr>
              <a:t>stessa</a:t>
            </a:r>
            <a:r>
              <a:rPr sz="1600" b="1" dirty="0">
                <a:solidFill>
                  <a:srgbClr val="2A7EC8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2A7EC8"/>
                </a:solidFill>
                <a:latin typeface="Calibri"/>
              </a:rPr>
              <a:t>logica</a:t>
            </a:r>
            <a:r>
              <a:rPr sz="1600" b="1" dirty="0">
                <a:solidFill>
                  <a:srgbClr val="2A7EC8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2A7EC8"/>
                </a:solidFill>
                <a:latin typeface="Calibri"/>
              </a:rPr>
              <a:t>sottostante</a:t>
            </a:r>
            <a:endParaRPr sz="1600" b="1" dirty="0">
              <a:solidFill>
                <a:srgbClr val="2A7EC8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A MANO, RAG DI PIATTAFORMA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828800"/>
            <a:ext cx="5166360" cy="502920"/>
          </a:xfrm>
          <a:prstGeom prst="roundRect">
            <a:avLst/>
          </a:prstGeom>
          <a:solidFill>
            <a:srgbClr val="1A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Il nostro — RAG custom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0488" y="1828800"/>
            <a:ext cx="5166360" cy="502920"/>
          </a:xfrm>
          <a:prstGeom prst="roundRect">
            <a:avLst/>
          </a:prstGeom>
          <a:solidFill>
            <a:srgbClr val="2A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Copilot Studio — Generative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747600"/>
            <a:ext cx="4846320" cy="2214709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1.  Mail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ricevuta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, testo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estratto</a:t>
            </a:r>
            <a:endParaRPr sz="1600" b="0" dirty="0">
              <a:solidFill>
                <a:srgbClr val="1A2E6E"/>
              </a:solidFill>
              <a:latin typeface="Calibri"/>
            </a:endParaRPr>
          </a:p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2.  Agent Framework genera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l'embedding</a:t>
            </a:r>
            <a:endParaRPr sz="1600" b="0" dirty="0">
              <a:solidFill>
                <a:srgbClr val="1A2E6E"/>
              </a:solidFill>
              <a:latin typeface="Calibri"/>
            </a:endParaRPr>
          </a:p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3.  Cosine similarity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sul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vector store SQL</a:t>
            </a:r>
          </a:p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4.  Top-3 ticket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simili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recuperati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per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ticketId</a:t>
            </a:r>
            <a:endParaRPr sz="1600" b="0" dirty="0">
              <a:solidFill>
                <a:srgbClr val="1A2E6E"/>
              </a:solidFill>
              <a:latin typeface="Calibri"/>
            </a:endParaRPr>
          </a:p>
          <a:p>
            <a:pPr algn="just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5. 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Contesto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assemblato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e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chiamata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al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modello</a:t>
            </a:r>
            <a:endParaRPr sz="1600" b="0" dirty="0">
              <a:solidFill>
                <a:srgbClr val="1A2E6E"/>
              </a:solidFill>
              <a:latin typeface="Calibri"/>
            </a:endParaRPr>
          </a:p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6. 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Suggerimenti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proposti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all'operatore</a:t>
            </a:r>
            <a:endParaRPr sz="1600" b="0" dirty="0">
              <a:solidFill>
                <a:srgbClr val="1A2E6E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90488" y="2747599"/>
            <a:ext cx="4846320" cy="2214709"/>
          </a:xfrm>
          <a:prstGeom prst="rect">
            <a:avLst/>
          </a:prstGeom>
          <a:noFill/>
        </p:spPr>
        <p:txBody>
          <a:bodyPr wrap="square" lIns="45720" tIns="18288" rIns="45720" bIns="18288" anchor="b">
            <a:spAutoFit/>
          </a:bodyPr>
          <a:lstStyle/>
          <a:p>
            <a:pPr algn="just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1.  Utterance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utente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nel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canvas</a:t>
            </a:r>
          </a:p>
          <a:p>
            <a:pPr algn="just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2.  Topic-first routing: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prova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il match</a:t>
            </a:r>
          </a:p>
          <a:p>
            <a:pPr algn="just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3.  Fallback,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si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attiva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Generative Answers</a:t>
            </a:r>
          </a:p>
          <a:p>
            <a:pPr algn="just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4.  Azure AI Search: chunking e retrieval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gestiti</a:t>
            </a:r>
            <a:endParaRPr sz="1600" b="0" dirty="0">
              <a:solidFill>
                <a:srgbClr val="1A2E6E"/>
              </a:solidFill>
              <a:latin typeface="Calibri"/>
            </a:endParaRPr>
          </a:p>
          <a:p>
            <a:pPr algn="just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5. 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Modello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grounded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sul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contesto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recuperato</a:t>
            </a:r>
            <a:endParaRPr sz="1600" b="0" dirty="0">
              <a:solidFill>
                <a:srgbClr val="1A2E6E"/>
              </a:solidFill>
              <a:latin typeface="Calibri"/>
            </a:endParaRPr>
          </a:p>
          <a:p>
            <a:pPr algn="just">
              <a:lnSpc>
                <a:spcPct val="150000"/>
              </a:lnSpc>
            </a:pPr>
            <a:r>
              <a:rPr sz="1600" b="0" dirty="0">
                <a:solidFill>
                  <a:srgbClr val="1A2E6E"/>
                </a:solidFill>
                <a:latin typeface="Calibri"/>
              </a:rPr>
              <a:t>6. 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Risposta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con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citazioni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inline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sul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canale</a:t>
            </a:r>
            <a:endParaRPr sz="1600" b="0" dirty="0">
              <a:solidFill>
                <a:srgbClr val="1A2E6E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SEI DIMENSIONI, DUE RISPOSTE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41248" y="182880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ASPETTO</a:t>
                      </a:r>
                    </a:p>
                  </a:txBody>
                  <a:tcPr>
                    <a:solidFill>
                      <a:srgbClr val="1A2E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SISTEMA CUSTOM</a:t>
                      </a:r>
                    </a:p>
                  </a:txBody>
                  <a:tcPr>
                    <a:solidFill>
                      <a:srgbClr val="1A2E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COPILOT STUDIO</a:t>
                      </a:r>
                    </a:p>
                  </a:txBody>
                  <a:tcPr>
                    <a:solidFill>
                      <a:srgbClr val="1A2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Vector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SQL Server, controllo totale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Azure AI Search, gestito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Embedding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Scelto e versionato da noi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Gestito dalla piattaforma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Feedback loop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Automatico a ogni ticket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Manuale — serve il re-index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Sentiment in ingresso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Azure AI Language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Non disponibile built-in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Human in the loop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Esplicito: l'operatore sceglie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Possibile, ma da modellare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4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Time to ship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Settimane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Giorni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Replicare il flusso, con i trade-off in chiaro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45920"/>
            <a:ext cx="2587752" cy="731520"/>
          </a:xfrm>
          <a:prstGeom prst="roundRect">
            <a:avLst/>
          </a:prstGeom>
          <a:solidFill>
            <a:srgbClr val="2A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2514600"/>
            <a:ext cx="2587752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 dirty="0" err="1">
                <a:solidFill>
                  <a:srgbClr val="1A2E6E"/>
                </a:solidFill>
                <a:latin typeface="Calibri"/>
              </a:rPr>
              <a:t>Ricezione</a:t>
            </a:r>
            <a:endParaRPr sz="1500" b="1" dirty="0">
              <a:solidFill>
                <a:srgbClr val="1A2E6E"/>
              </a:solidFill>
              <a:latin typeface="Calibri"/>
            </a:endParaRPr>
          </a:p>
          <a:p>
            <a:r>
              <a:rPr sz="1600" dirty="0">
                <a:solidFill>
                  <a:srgbClr val="1A2E6E"/>
                </a:solidFill>
                <a:latin typeface="Calibri"/>
              </a:rPr>
              <a:t>Topic "Nuova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segnalazione</a:t>
            </a:r>
            <a:r>
              <a:rPr sz="1600" dirty="0">
                <a:solidFill>
                  <a:srgbClr val="1A2E6E"/>
                </a:solidFill>
                <a:latin typeface="Calibri"/>
              </a:rPr>
              <a:t>" con slot filling. GUI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intuitiva</a:t>
            </a:r>
            <a:r>
              <a:rPr sz="1600" dirty="0">
                <a:solidFill>
                  <a:srgbClr val="1A2E6E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nessun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codice</a:t>
            </a:r>
            <a:r>
              <a:rPr sz="1600" dirty="0">
                <a:solidFill>
                  <a:srgbClr val="1A2E6E"/>
                </a:solidFill>
                <a:latin typeface="Calibri"/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645920"/>
            <a:ext cx="2587752" cy="731520"/>
          </a:xfrm>
          <a:prstGeom prst="roundRect">
            <a:avLst/>
          </a:prstGeom>
          <a:solidFill>
            <a:srgbClr val="2A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526632"/>
            <a:ext cx="2587752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 dirty="0">
                <a:solidFill>
                  <a:srgbClr val="1A2E6E"/>
                </a:solidFill>
                <a:latin typeface="Calibri"/>
              </a:rPr>
              <a:t>Similarity search</a:t>
            </a:r>
            <a:endParaRPr sz="1500" b="1" dirty="0">
              <a:solidFill>
                <a:srgbClr val="1A2E6E"/>
              </a:solidFill>
              <a:latin typeface="Calibri"/>
            </a:endParaRPr>
          </a:p>
          <a:p>
            <a:r>
              <a:rPr sz="1600" dirty="0">
                <a:solidFill>
                  <a:srgbClr val="1A2E6E"/>
                </a:solidFill>
                <a:latin typeface="Calibri"/>
              </a:rPr>
              <a:t>HTTP action verso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l'endpoint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.NET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esistente</a:t>
            </a:r>
            <a:r>
              <a:rPr sz="1600" dirty="0">
                <a:solidFill>
                  <a:srgbClr val="1A2E6E"/>
                </a:solidFill>
                <a:latin typeface="Calibri"/>
              </a:rPr>
              <a:t>: il vector store SQL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resta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nostro.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Collegabile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anche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via MCP.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645920"/>
            <a:ext cx="2587752" cy="731520"/>
          </a:xfrm>
          <a:prstGeom prst="roundRect">
            <a:avLst/>
          </a:prstGeom>
          <a:solidFill>
            <a:srgbClr val="2A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514600"/>
            <a:ext cx="2587752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 dirty="0">
                <a:solidFill>
                  <a:srgbClr val="1A2E6E"/>
                </a:solidFill>
                <a:latin typeface="Calibri"/>
              </a:rPr>
              <a:t>Ticket CRM</a:t>
            </a:r>
          </a:p>
          <a:p>
            <a:endParaRPr sz="1500" b="1" dirty="0">
              <a:solidFill>
                <a:srgbClr val="1A2E6E"/>
              </a:solidFill>
              <a:latin typeface="Calibri"/>
            </a:endParaRPr>
          </a:p>
          <a:p>
            <a:r>
              <a:rPr sz="1600" dirty="0">
                <a:solidFill>
                  <a:srgbClr val="1A2E6E"/>
                </a:solidFill>
                <a:latin typeface="Calibri"/>
              </a:rPr>
              <a:t>HTTP action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sulla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REST API,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soluzione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in response. Stesso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contratto</a:t>
            </a:r>
            <a:r>
              <a:rPr sz="1600" dirty="0">
                <a:solidFill>
                  <a:srgbClr val="1A2E6E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altro</a:t>
            </a:r>
            <a:r>
              <a:rPr sz="160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1A2E6E"/>
                </a:solidFill>
                <a:latin typeface="Calibri"/>
              </a:rPr>
              <a:t>chiamante</a:t>
            </a:r>
            <a:r>
              <a:rPr sz="1600" dirty="0">
                <a:solidFill>
                  <a:srgbClr val="1A2E6E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5984" y="1645920"/>
            <a:ext cx="2587752" cy="731520"/>
          </a:xfrm>
          <a:prstGeom prst="roundRect">
            <a:avLst/>
          </a:prstGeom>
          <a:solidFill>
            <a:srgbClr val="2A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15984" y="2514600"/>
            <a:ext cx="2587752" cy="3337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Generative answer</a:t>
            </a:r>
          </a:p>
          <a:p>
            <a:endParaRPr sz="15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Risposta grounded sulla knowledge source. Arriva nel canvas, non via mail: si perde il controllo umano.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4572000"/>
            <a:ext cx="105156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Lo stesso use case in Copilot Studio: agent blank, topic, due HTTP action, generative answer, publish su Teams.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DEPLOY, ALM E GOVERNANCE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4592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Canali</a:t>
            </a:r>
          </a:p>
          <a:p>
            <a:endParaRPr sz="16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Teams con SSO M365 e Adaptive Card, SharePoint web part, embed web, Direct Line per app custom.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90488" y="1645920"/>
            <a:ext cx="5166360" cy="2011680"/>
          </a:xfrm>
          <a:prstGeom prst="roundRect">
            <a:avLst/>
          </a:prstGeom>
          <a:solidFill>
            <a:srgbClr val="F0E840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Pipeline ALM</a:t>
            </a:r>
          </a:p>
          <a:p>
            <a:endParaRPr sz="16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Export come Dataverse solution; pipeline dev → test → prod via Power Platform Pipelines o GitHub Actions.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384048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Osservabilità</a:t>
            </a:r>
          </a:p>
          <a:p>
            <a:endParaRPr sz="16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Analytics built-in su sessioni e resolution rate, utterance non matchate, Application Insights per il tracing.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3840480"/>
            <a:ext cx="5166360" cy="2011680"/>
          </a:xfrm>
          <a:prstGeom prst="roundRect">
            <a:avLst/>
          </a:prstGeom>
          <a:solidFill>
            <a:srgbClr val="1A2E6E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Policy</a:t>
            </a:r>
          </a:p>
          <a:p>
            <a:endParaRPr sz="1600" b="1">
              <a:solidFill>
                <a:srgbClr val="FFFFFF"/>
              </a:solidFill>
              <a:latin typeface="Calibri"/>
            </a:endParaRPr>
          </a:p>
          <a:p>
            <a:r>
              <a:rPr sz="1600">
                <a:solidFill>
                  <a:srgbClr val="FFFFFF"/>
                </a:solidFill>
                <a:latin typeface="Calibri"/>
              </a:rPr>
              <a:t>DLP sui connettori dall'Admin Center, classificazione business e blocked, Entra Agent ID automatico.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Migra, integra, o resta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2286000"/>
            <a:ext cx="3502152" cy="731520"/>
          </a:xfrm>
          <a:prstGeom prst="roundRect">
            <a:avLst/>
          </a:prstGeom>
          <a:solidFill>
            <a:srgbClr val="F0E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1A2E6E"/>
                </a:solidFill>
                <a:latin typeface="Calibri"/>
              </a:rPr>
              <a:t>Migra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3154680"/>
            <a:ext cx="3502152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3337560"/>
            <a:ext cx="3136392" cy="2423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1A2E6E"/>
                </a:solidFill>
                <a:latin typeface="Calibri"/>
              </a:rPr>
              <a:t>•  La logica sta in poche regole e in una KB</a:t>
            </a:r>
          </a:p>
          <a:p>
            <a:pPr algn="l"/>
            <a:r>
              <a:rPr sz="1600" b="0">
                <a:solidFill>
                  <a:srgbClr val="1A2E6E"/>
                </a:solidFill>
                <a:latin typeface="Calibri"/>
              </a:rPr>
              <a:t>•  La governance vale più del prompt</a:t>
            </a:r>
          </a:p>
          <a:p>
            <a:pPr algn="l"/>
            <a:r>
              <a:rPr sz="1600" b="0">
                <a:solidFill>
                  <a:srgbClr val="1A2E6E"/>
                </a:solidFill>
                <a:latin typeface="Calibri"/>
              </a:rPr>
              <a:t>•  Chi manterrà non è un team .NET</a:t>
            </a:r>
          </a:p>
          <a:p>
            <a:pPr algn="l"/>
            <a:r>
              <a:rPr sz="1600" b="0">
                <a:solidFill>
                  <a:srgbClr val="1A2E6E"/>
                </a:solidFill>
                <a:latin typeface="Calibri"/>
              </a:rPr>
              <a:t>•  Serve un prototipo in pochi giorni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286000"/>
            <a:ext cx="3502152" cy="731520"/>
          </a:xfrm>
          <a:prstGeom prst="roundRect">
            <a:avLst/>
          </a:prstGeom>
          <a:solidFill>
            <a:srgbClr val="2A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Integra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154680"/>
            <a:ext cx="3502152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3337560"/>
            <a:ext cx="3136392" cy="2423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1A2E6E"/>
                </a:solidFill>
                <a:latin typeface="Calibri"/>
              </a:rPr>
              <a:t>•  Il valore è arrivare sui canali M365</a:t>
            </a:r>
          </a:p>
          <a:p>
            <a:pPr algn="l"/>
            <a:r>
              <a:rPr sz="1600" b="0">
                <a:solidFill>
                  <a:srgbClr val="1A2E6E"/>
                </a:solidFill>
                <a:latin typeface="Calibri"/>
              </a:rPr>
              <a:t>•  Esiste logica che la piattaforma non ha</a:t>
            </a:r>
          </a:p>
          <a:p>
            <a:pPr algn="l"/>
            <a:r>
              <a:rPr sz="1600" b="0">
                <a:solidFill>
                  <a:srgbClr val="1A2E6E"/>
                </a:solidFill>
                <a:latin typeface="Calibri"/>
              </a:rPr>
              <a:t>•  Servono molti canali in poco tempo</a:t>
            </a:r>
          </a:p>
          <a:p>
            <a:pPr algn="l"/>
            <a:r>
              <a:rPr sz="1600" b="0">
                <a:solidFill>
                  <a:srgbClr val="1A2E6E"/>
                </a:solidFill>
                <a:latin typeface="Calibri"/>
              </a:rPr>
              <a:t>•  Il volume rende i credits troppo cari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2286000"/>
            <a:ext cx="3502152" cy="731520"/>
          </a:xfrm>
          <a:prstGeom prst="roundRect">
            <a:avLst/>
          </a:prstGeom>
          <a:solidFill>
            <a:srgbClr val="1A2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Resta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3154680"/>
            <a:ext cx="3502152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02752" y="3337560"/>
            <a:ext cx="3136392" cy="2423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1A2E6E"/>
                </a:solidFill>
                <a:latin typeface="Calibri"/>
              </a:rPr>
              <a:t>•  Serve human in the loop esplicito</a:t>
            </a:r>
          </a:p>
          <a:p>
            <a:pPr algn="l"/>
            <a:r>
              <a:rPr sz="1600" b="0">
                <a:solidFill>
                  <a:srgbClr val="1A2E6E"/>
                </a:solidFill>
                <a:latin typeface="Calibri"/>
              </a:rPr>
              <a:t>•  Latenza e orchestrazione sono requisiti duri</a:t>
            </a:r>
          </a:p>
          <a:p>
            <a:pPr algn="l"/>
            <a:r>
              <a:rPr sz="1600" b="0">
                <a:solidFill>
                  <a:srgbClr val="1A2E6E"/>
                </a:solidFill>
                <a:latin typeface="Calibri"/>
              </a:rPr>
              <a:t>•  I dati non escono dal perimetro attuale</a:t>
            </a:r>
          </a:p>
          <a:p>
            <a:pPr algn="l"/>
            <a:r>
              <a:rPr sz="1600" b="0">
                <a:solidFill>
                  <a:srgbClr val="1A2E6E"/>
                </a:solidFill>
                <a:latin typeface="Calibri"/>
              </a:rPr>
              <a:t>•  La richiesta è di forma, non di sostanza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B013F4B-2C43-AA42-C625-7095BE0588C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1324" y="1600200"/>
            <a:ext cx="762000" cy="762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C617B1C-6110-9EDB-03AC-F4123CAEE34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50636" y="1600200"/>
            <a:ext cx="762000" cy="7620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54FB3FD-933C-8787-7F55-C262CA4CE2B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89948" y="1600200"/>
            <a:ext cx="762000" cy="762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2195"/>
          </a:xfrm>
        </p:spPr>
        <p:txBody>
          <a:bodyPr/>
          <a:lstStyle/>
          <a:p>
            <a:r>
              <a:t>Otto scenari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637386"/>
              </p:ext>
            </p:extLst>
          </p:nvPr>
        </p:nvGraphicFramePr>
        <p:xfrm>
          <a:off x="841248" y="1178700"/>
          <a:ext cx="8412480" cy="499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5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2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>
                    <a:solidFill>
                      <a:srgbClr val="1A2E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Scelta</a:t>
                      </a:r>
                    </a:p>
                  </a:txBody>
                  <a:tcPr>
                    <a:solidFill>
                      <a:srgbClr val="1A2E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Perché</a:t>
                      </a:r>
                    </a:p>
                  </a:txBody>
                  <a:tcPr>
                    <a:solidFill>
                      <a:srgbClr val="1A2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Un prototipo in due giorni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MIGRA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GUI, nessun codice, publish immediato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Il team non è .NET — power user e BA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MIGRA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Topic e action gestibili senza codice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Utenti su più canali M365, subito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MIGRA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Teams, SharePoint e web out-of-the-box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La KB si aggiorna a ogni evento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INTEGRA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Il feedback loop automatico resta custom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Serve il sentiment come input del flusso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INTEGRA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Non è built-in: l'endpoint lo fornisce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Human in the loop esplicito sulla risposta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INTEGRA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Front-end di piattaforma, decisione a valle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Controllo totale su prompt e orchestrazione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RESTA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La piattaforma astrae il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I dati non possono lasciare il perimetro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2E6E"/>
                          </a:solidFill>
                          <a:latin typeface="Calibri"/>
                        </a:rPr>
                        <a:t>RESTA</a:t>
                      </a:r>
                    </a:p>
                  </a:txBody>
                  <a:tcPr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1A2E6E"/>
                          </a:solidFill>
                          <a:latin typeface="Calibri"/>
                        </a:rPr>
                        <a:t>Nessun </a:t>
                      </a:r>
                      <a:r>
                        <a:rPr sz="1600" b="0" dirty="0" err="1">
                          <a:solidFill>
                            <a:srgbClr val="1A2E6E"/>
                          </a:solidFill>
                          <a:latin typeface="Calibri"/>
                        </a:rPr>
                        <a:t>canale</a:t>
                      </a:r>
                      <a:r>
                        <a:rPr sz="1600" b="0" dirty="0">
                          <a:solidFill>
                            <a:srgbClr val="1A2E6E"/>
                          </a:solidFill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A2E6E"/>
                          </a:solidFill>
                          <a:latin typeface="Calibri"/>
                        </a:rPr>
                        <a:t>giustifica</a:t>
                      </a:r>
                      <a:r>
                        <a:rPr sz="1600" b="0" dirty="0">
                          <a:solidFill>
                            <a:srgbClr val="1A2E6E"/>
                          </a:solidFill>
                          <a:latin typeface="Calibri"/>
                        </a:rPr>
                        <a:t> il </a:t>
                      </a:r>
                      <a:r>
                        <a:rPr sz="1600" b="0" dirty="0" err="1">
                          <a:solidFill>
                            <a:srgbClr val="1A2E6E"/>
                          </a:solidFill>
                          <a:latin typeface="Calibri"/>
                        </a:rPr>
                        <a:t>vincolo</a:t>
                      </a:r>
                      <a:endParaRPr sz="1600" b="0" dirty="0">
                        <a:solidFill>
                          <a:srgbClr val="1A2E6E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9418320" y="1554480"/>
            <a:ext cx="1920240" cy="1417320"/>
          </a:xfrm>
          <a:prstGeom prst="roundRect">
            <a:avLst/>
          </a:prstGeom>
          <a:solidFill>
            <a:srgbClr val="F0E840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0" y="1645920"/>
            <a:ext cx="1920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000" b="1">
                <a:solidFill>
                  <a:srgbClr val="1A2E6E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2423160"/>
            <a:ext cx="1920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1A2E6E"/>
                </a:solidFill>
                <a:latin typeface="Calibri"/>
              </a:rPr>
              <a:t>MIGRA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3108960"/>
            <a:ext cx="1920240" cy="1417320"/>
          </a:xfrm>
          <a:prstGeom prst="roundRect">
            <a:avLst/>
          </a:prstGeom>
          <a:solidFill>
            <a:srgbClr val="2A7EC8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0" y="3200400"/>
            <a:ext cx="1920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3977640"/>
            <a:ext cx="1920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INTEGRA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0" y="4663440"/>
            <a:ext cx="1920240" cy="1417320"/>
          </a:xfrm>
          <a:prstGeom prst="roundRect">
            <a:avLst/>
          </a:prstGeom>
          <a:solidFill>
            <a:srgbClr val="1A2E6E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0" y="4754880"/>
            <a:ext cx="192024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5532120"/>
            <a:ext cx="192024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RESTA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L'architettura ibrida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45920"/>
            <a:ext cx="5166360" cy="4206240"/>
          </a:xfrm>
          <a:prstGeom prst="roundRect">
            <a:avLst/>
          </a:prstGeom>
          <a:solidFill>
            <a:srgbClr val="2A7EC8"/>
          </a:solidFill>
          <a:ln w="1905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783080"/>
            <a:ext cx="51663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Copilot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240280"/>
            <a:ext cx="5166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0">
                <a:solidFill>
                  <a:srgbClr val="F0E840"/>
                </a:solidFill>
                <a:latin typeface="Calibri"/>
              </a:rPr>
              <a:t>Front-end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408" y="2697480"/>
            <a:ext cx="23545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Topic</a:t>
            </a:r>
          </a:p>
          <a:p>
            <a:endParaRPr sz="12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Routing conversazionale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4428" y="2697480"/>
            <a:ext cx="23545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Canali</a:t>
            </a:r>
          </a:p>
          <a:p>
            <a:endParaRPr sz="12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Teams, Web, SharePoint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" y="4023360"/>
            <a:ext cx="23545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Governance</a:t>
            </a:r>
          </a:p>
          <a:p>
            <a:endParaRPr sz="12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DLP, ALM, Analytics, Agent 365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4428" y="4023360"/>
            <a:ext cx="23545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AuthN</a:t>
            </a:r>
          </a:p>
          <a:p>
            <a:endParaRPr sz="12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SSO, Entra 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645920"/>
            <a:ext cx="5166360" cy="4206240"/>
          </a:xfrm>
          <a:prstGeom prst="roundRect">
            <a:avLst/>
          </a:prstGeom>
          <a:solidFill>
            <a:srgbClr val="1A2E6E"/>
          </a:solidFill>
          <a:ln w="1905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8" y="1783080"/>
            <a:ext cx="516636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Sistema Custom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2240280"/>
            <a:ext cx="516636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600" b="0">
                <a:solidFill>
                  <a:srgbClr val="F0E840"/>
                </a:solidFill>
                <a:latin typeface="Calibri"/>
              </a:rPr>
              <a:t>Back-end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2697480"/>
            <a:ext cx="23545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Vector Search</a:t>
            </a:r>
          </a:p>
          <a:p>
            <a:endParaRPr sz="12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SQL Server, similarity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5108" y="2697480"/>
            <a:ext cx="23545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Sentiment</a:t>
            </a:r>
          </a:p>
          <a:p>
            <a:endParaRPr sz="12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Azure AI Language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9088" y="4023360"/>
            <a:ext cx="23545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Prompt Engineering</a:t>
            </a:r>
          </a:p>
          <a:p>
            <a:endParaRPr sz="12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Sotto controllo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5108" y="4023360"/>
            <a:ext cx="23545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b="1">
                <a:solidFill>
                  <a:srgbClr val="1A2E6E"/>
                </a:solidFill>
                <a:latin typeface="Calibri"/>
              </a:rPr>
              <a:t>Business Logic</a:t>
            </a:r>
          </a:p>
          <a:p>
            <a:endParaRPr sz="1200" b="1">
              <a:solidFill>
                <a:srgbClr val="1A2E6E"/>
              </a:solidFill>
              <a:latin typeface="Calibri"/>
            </a:endParaRPr>
          </a:p>
          <a:p>
            <a:r>
              <a:rPr sz="1600">
                <a:solidFill>
                  <a:srgbClr val="1A2E6E"/>
                </a:solidFill>
                <a:latin typeface="Calibri"/>
              </a:rPr>
              <a:t>E human in the loop</a:t>
            </a:r>
          </a:p>
        </p:txBody>
      </p:sp>
      <p:sp>
        <p:nvSpPr>
          <p:cNvPr id="17" name="Oval 16"/>
          <p:cNvSpPr/>
          <p:nvPr/>
        </p:nvSpPr>
        <p:spPr>
          <a:xfrm>
            <a:off x="5824728" y="3429000"/>
            <a:ext cx="640080" cy="640080"/>
          </a:xfrm>
          <a:prstGeom prst="ellipse">
            <a:avLst/>
          </a:prstGeom>
          <a:solidFill>
            <a:srgbClr val="F0E840"/>
          </a:solidFill>
          <a:ln w="1905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1A2E6E"/>
                </a:solidFill>
              </a:rPr>
              <a:t>+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Come ci si arriva, in tre passi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645920"/>
            <a:ext cx="731520" cy="731520"/>
          </a:xfrm>
          <a:prstGeom prst="roundRect">
            <a:avLst/>
          </a:prstGeom>
          <a:solidFill>
            <a:srgbClr val="2A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9928" y="1783080"/>
            <a:ext cx="2633472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 dirty="0" err="1">
                <a:solidFill>
                  <a:srgbClr val="1A2E6E"/>
                </a:solidFill>
                <a:latin typeface="Calibri"/>
              </a:rPr>
              <a:t>L'endpoint</a:t>
            </a:r>
            <a:r>
              <a:rPr sz="1600" b="1" dirty="0">
                <a:solidFill>
                  <a:srgbClr val="1A2E6E"/>
                </a:solidFill>
                <a:latin typeface="Calibri"/>
              </a:rPr>
              <a:t> è il </a:t>
            </a:r>
            <a:r>
              <a:rPr sz="1600" b="1" dirty="0" err="1">
                <a:solidFill>
                  <a:srgbClr val="1A2E6E"/>
                </a:solidFill>
                <a:latin typeface="Calibri"/>
              </a:rPr>
              <a:t>contratto</a:t>
            </a:r>
            <a:endParaRPr sz="1600" b="1" dirty="0">
              <a:solidFill>
                <a:srgbClr val="1A2E6E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41248" y="2560320"/>
            <a:ext cx="3502152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3024963"/>
            <a:ext cx="3136392" cy="102181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sz="1600" b="0" dirty="0">
                <a:solidFill>
                  <a:srgbClr val="1A2E6E"/>
                </a:solidFill>
                <a:latin typeface="Calibri"/>
              </a:rPr>
              <a:t>La similarity search .NET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esposta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come HTTP action, o come tool MCP se la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si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vuole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riusabile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da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altri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orchestratori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4572000"/>
            <a:ext cx="3136392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2A7EC8"/>
                </a:solidFill>
                <a:latin typeface="Calibri"/>
              </a:rPr>
              <a:t>Nessuna riga di logica riscritta.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45920"/>
            <a:ext cx="731520" cy="731520"/>
          </a:xfrm>
          <a:prstGeom prst="roundRect">
            <a:avLst/>
          </a:prstGeom>
          <a:solidFill>
            <a:srgbClr val="2A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783080"/>
            <a:ext cx="2633472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A2E6E"/>
                </a:solidFill>
                <a:latin typeface="Calibri"/>
              </a:rPr>
              <a:t>Il front-end alla piattaforma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560320"/>
            <a:ext cx="3502152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55820" y="3053671"/>
            <a:ext cx="3136392" cy="1737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dirty="0">
                <a:solidFill>
                  <a:srgbClr val="1A2E6E"/>
                </a:solidFill>
                <a:latin typeface="Calibri"/>
              </a:rPr>
              <a:t>Topic, slot filling, publish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su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Teams e web. Il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canale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mail con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l'human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in the loop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resta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in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piedi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572000"/>
            <a:ext cx="3136392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2A7EC8"/>
                </a:solidFill>
                <a:latin typeface="Calibri"/>
              </a:rPr>
              <a:t>Due superfici, un solo back-end.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645920"/>
            <a:ext cx="731520" cy="731520"/>
          </a:xfrm>
          <a:prstGeom prst="roundRect">
            <a:avLst/>
          </a:prstGeom>
          <a:solidFill>
            <a:srgbClr val="2A7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8552" y="1783080"/>
            <a:ext cx="2633472" cy="594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1A2E6E"/>
                </a:solidFill>
                <a:latin typeface="Calibri"/>
              </a:rPr>
              <a:t>Il governo al control plane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560320"/>
            <a:ext cx="3502152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95132" y="3053671"/>
            <a:ext cx="3136392" cy="17373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 dirty="0" err="1">
                <a:solidFill>
                  <a:srgbClr val="1A2E6E"/>
                </a:solidFill>
                <a:latin typeface="Calibri"/>
              </a:rPr>
              <a:t>Registrazione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nel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registry,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identità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agent, DLP e analytics per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canale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A2E6E"/>
                </a:solidFill>
                <a:latin typeface="Calibri"/>
              </a:rPr>
              <a:t>dall'Admin</a:t>
            </a:r>
            <a:r>
              <a:rPr sz="1600" b="0" dirty="0">
                <a:solidFill>
                  <a:srgbClr val="1A2E6E"/>
                </a:solidFill>
                <a:latin typeface="Calibri"/>
              </a:rPr>
              <a:t> Center.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4572000"/>
            <a:ext cx="3136392" cy="8229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1">
                <a:solidFill>
                  <a:srgbClr val="2A7EC8"/>
                </a:solidFill>
                <a:latin typeface="Calibri"/>
              </a:rPr>
              <a:t>La governance si eredita, non si costruisce.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CC6D8BB-C02D-EEE7-4479-ABF30187A0E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4900" y="5212080"/>
            <a:ext cx="508000" cy="5080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C7BA1D2D-91A8-33C3-1CCE-30A115F83E0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4212" y="5212080"/>
            <a:ext cx="508000" cy="5080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B535FB2A-EADE-F02C-6B8C-B28CFA9837F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23524" y="5212080"/>
            <a:ext cx="508000" cy="50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552348"/>
            <a:ext cx="9445752" cy="1463040"/>
          </a:xfrm>
          <a:prstGeom prst="roundRect">
            <a:avLst/>
          </a:prstGeom>
          <a:solidFill>
            <a:srgbClr val="F0E840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2600" dirty="0">
                <a:solidFill>
                  <a:srgbClr val="1A2E6E"/>
                </a:solidFill>
                <a:latin typeface="Calibri"/>
              </a:rPr>
              <a:t>Lo </a:t>
            </a:r>
            <a:r>
              <a:rPr sz="2600" dirty="0" err="1">
                <a:solidFill>
                  <a:srgbClr val="1A2E6E"/>
                </a:solidFill>
                <a:latin typeface="Calibri"/>
              </a:rPr>
              <a:t>stesso</a:t>
            </a:r>
            <a:r>
              <a:rPr sz="2600" dirty="0">
                <a:solidFill>
                  <a:srgbClr val="1A2E6E"/>
                </a:solidFill>
                <a:latin typeface="Calibri"/>
              </a:rPr>
              <a:t> endpoint .NET </a:t>
            </a:r>
            <a:r>
              <a:rPr sz="2600" dirty="0" err="1">
                <a:solidFill>
                  <a:srgbClr val="1A2E6E"/>
                </a:solidFill>
                <a:latin typeface="Calibri"/>
              </a:rPr>
              <a:t>funziona</a:t>
            </a:r>
            <a:r>
              <a:rPr sz="2600" dirty="0">
                <a:solidFill>
                  <a:srgbClr val="1A2E6E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1A2E6E"/>
                </a:solidFill>
                <a:latin typeface="Calibri"/>
              </a:rPr>
              <a:t>identicamente</a:t>
            </a:r>
            <a:r>
              <a:rPr sz="2600" dirty="0">
                <a:solidFill>
                  <a:srgbClr val="1A2E6E"/>
                </a:solidFill>
                <a:latin typeface="Calibri"/>
              </a:rPr>
              <a:t> </a:t>
            </a:r>
            <a:r>
              <a:rPr sz="2600" dirty="0" err="1">
                <a:solidFill>
                  <a:srgbClr val="1A2E6E"/>
                </a:solidFill>
                <a:latin typeface="Calibri"/>
              </a:rPr>
              <a:t>nei</a:t>
            </a:r>
            <a:r>
              <a:rPr sz="2600" dirty="0">
                <a:solidFill>
                  <a:srgbClr val="1A2E6E"/>
                </a:solidFill>
                <a:latin typeface="Calibri"/>
              </a:rPr>
              <a:t> due </a:t>
            </a:r>
            <a:r>
              <a:rPr sz="2600" dirty="0" err="1">
                <a:solidFill>
                  <a:srgbClr val="1A2E6E"/>
                </a:solidFill>
                <a:latin typeface="Calibri"/>
              </a:rPr>
              <a:t>approcci</a:t>
            </a:r>
            <a:r>
              <a:rPr sz="2600" dirty="0">
                <a:solidFill>
                  <a:srgbClr val="1A2E6E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198267"/>
            <a:ext cx="9445752" cy="2103120"/>
          </a:xfrm>
          <a:prstGeom prst="roundRect">
            <a:avLst/>
          </a:prstGeom>
          <a:solidFill>
            <a:srgbClr val="1A2E6E"/>
          </a:solidFill>
          <a:ln w="12700">
            <a:solidFill>
              <a:srgbClr val="1A2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r>
              <a:rPr sz="1600" dirty="0">
                <a:solidFill>
                  <a:srgbClr val="FFFFFF"/>
                </a:solidFill>
                <a:latin typeface="Calibri"/>
              </a:rPr>
              <a:t>Tre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passi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reversibili</a:t>
            </a:r>
            <a:r>
              <a:rPr sz="1600" dirty="0">
                <a:solidFill>
                  <a:srgbClr val="FFFFFF"/>
                </a:solidFill>
                <a:latin typeface="Calibri"/>
              </a:rPr>
              <a:t>,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ognuno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con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valore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da solo —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una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migrazione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è un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passo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unico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e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irreversibile</a:t>
            </a:r>
            <a:r>
              <a:rPr sz="1600" dirty="0">
                <a:solidFill>
                  <a:srgbClr val="FFFFFF"/>
                </a:solidFill>
                <a:latin typeface="Calibri"/>
              </a:rPr>
              <a:t>.</a:t>
            </a:r>
            <a:br>
              <a:rPr dirty="0"/>
            </a:br>
            <a:br>
              <a:rPr dirty="0"/>
            </a:br>
            <a:r>
              <a:rPr sz="1600" dirty="0">
                <a:solidFill>
                  <a:srgbClr val="FFFFFF"/>
                </a:solidFill>
                <a:latin typeface="Calibri"/>
              </a:rPr>
              <a:t>È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questa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la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differenza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che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conta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per chi decide.</a:t>
            </a:r>
          </a:p>
        </p:txBody>
      </p:sp>
    </p:spTree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ydjpyzeh5jga/mnt/agents/output/converted/images/image_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2500" y="9525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668000" y="371475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D3D627B-7741-7712-1651-075DA45B0C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/>
          <a:stretch/>
        </p:blipFill>
        <p:spPr>
          <a:xfrm>
            <a:off x="-11596" y="27412"/>
            <a:ext cx="12189023" cy="6803175"/>
          </a:xfrm>
          <a:prstGeom prst="rect">
            <a:avLst/>
          </a:prstGeom>
        </p:spPr>
      </p:pic>
      <p:sp>
        <p:nvSpPr>
          <p:cNvPr id="201" name="Title"/>
          <p:cNvSpPr txBox="1"/>
          <p:nvPr/>
        </p:nvSpPr>
        <p:spPr>
          <a:xfrm>
            <a:off x="731520" y="548640"/>
            <a:ext cx="400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b="1" dirty="0">
                <a:solidFill>
                  <a:srgbClr val="00E5FF"/>
                </a:solidFill>
              </a:rPr>
              <a:t>In sintesi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9D1ED1D-0AF7-33AA-118B-1091A2D97E7C}"/>
              </a:ext>
            </a:extLst>
          </p:cNvPr>
          <p:cNvGrpSpPr/>
          <p:nvPr/>
        </p:nvGrpSpPr>
        <p:grpSpPr>
          <a:xfrm>
            <a:off x="8043318" y="4286250"/>
            <a:ext cx="3991554" cy="2378765"/>
            <a:chOff x="762000" y="762000"/>
            <a:chExt cx="6667500" cy="2500312"/>
          </a:xfrm>
        </p:grpSpPr>
        <p:sp>
          <p:nvSpPr>
            <p:cNvPr id="23" name="Shape 1">
              <a:extLst>
                <a:ext uri="{FF2B5EF4-FFF2-40B4-BE49-F238E27FC236}">
                  <a16:creationId xmlns:a16="http://schemas.microsoft.com/office/drawing/2014/main" id="{FC7F504C-CC58-0695-2BA7-F45895411B97}"/>
                </a:ext>
              </a:extLst>
            </p:cNvPr>
            <p:cNvSpPr/>
            <p:nvPr/>
          </p:nvSpPr>
          <p:spPr>
            <a:xfrm>
              <a:off x="762000" y="762000"/>
              <a:ext cx="6667500" cy="2476500"/>
            </a:xfrm>
            <a:prstGeom prst="roundRect">
              <a:avLst>
                <a:gd name="adj" fmla="val 8000"/>
              </a:avLst>
            </a:prstGeom>
            <a:solidFill>
              <a:srgbClr val="F0E840">
                <a:alpha val="85098"/>
              </a:srgbClr>
            </a:solidFill>
            <a:ln w="19050">
              <a:solidFill>
                <a:srgbClr val="1A2E6E"/>
              </a:solidFill>
              <a:prstDash val="solid"/>
            </a:ln>
          </p:spPr>
          <p:txBody>
            <a:bodyPr/>
            <a:lstStyle/>
            <a:p>
              <a:endParaRPr lang="it-IT" sz="1350"/>
            </a:p>
          </p:txBody>
        </p:sp>
        <p:sp>
          <p:nvSpPr>
            <p:cNvPr id="24" name="Shape 2">
              <a:extLst>
                <a:ext uri="{FF2B5EF4-FFF2-40B4-BE49-F238E27FC236}">
                  <a16:creationId xmlns:a16="http://schemas.microsoft.com/office/drawing/2014/main" id="{6F65A154-CD05-37F8-6C42-FE22D3A142AE}"/>
                </a:ext>
              </a:extLst>
            </p:cNvPr>
            <p:cNvSpPr/>
            <p:nvPr/>
          </p:nvSpPr>
          <p:spPr>
            <a:xfrm>
              <a:off x="930089" y="952500"/>
              <a:ext cx="896162" cy="571500"/>
            </a:xfrm>
            <a:prstGeom prst="ellipse">
              <a:avLst/>
            </a:prstGeom>
            <a:solidFill>
              <a:srgbClr val="1A2E6E"/>
            </a:solidFill>
            <a:ln/>
          </p:spPr>
          <p:txBody>
            <a:bodyPr/>
            <a:lstStyle/>
            <a:p>
              <a:endParaRPr lang="it-IT" sz="1350"/>
            </a:p>
          </p:txBody>
        </p:sp>
        <p:sp>
          <p:nvSpPr>
            <p:cNvPr id="25" name="Text 3">
              <a:extLst>
                <a:ext uri="{FF2B5EF4-FFF2-40B4-BE49-F238E27FC236}">
                  <a16:creationId xmlns:a16="http://schemas.microsoft.com/office/drawing/2014/main" id="{316271F2-828C-13C9-A0AD-6DFCA8B99180}"/>
                </a:ext>
              </a:extLst>
            </p:cNvPr>
            <p:cNvSpPr/>
            <p:nvPr/>
          </p:nvSpPr>
          <p:spPr>
            <a:xfrm>
              <a:off x="952499" y="952500"/>
              <a:ext cx="873752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</a:t>
              </a:r>
              <a:endParaRPr lang="en-US" sz="1200" dirty="0"/>
            </a:p>
          </p:txBody>
        </p:sp>
        <p:sp>
          <p:nvSpPr>
            <p:cNvPr id="26" name="Text 4">
              <a:extLst>
                <a:ext uri="{FF2B5EF4-FFF2-40B4-BE49-F238E27FC236}">
                  <a16:creationId xmlns:a16="http://schemas.microsoft.com/office/drawing/2014/main" id="{F5B13668-6666-40A6-8179-46137F706F92}"/>
                </a:ext>
              </a:extLst>
            </p:cNvPr>
            <p:cNvSpPr/>
            <p:nvPr/>
          </p:nvSpPr>
          <p:spPr>
            <a:xfrm>
              <a:off x="1994341" y="952500"/>
              <a:ext cx="4292910" cy="266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600" b="1" dirty="0">
                  <a:solidFill>
                    <a:srgbClr val="1A2E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Davide</a:t>
              </a:r>
              <a:r>
                <a:rPr lang="it-IT" sz="1600" dirty="0">
                  <a:solidFill>
                    <a:srgbClr val="1A2E6E"/>
                  </a:solidFill>
                  <a:latin typeface="Calibri" pitchFamily="34" charset="0"/>
                </a:rPr>
                <a:t>  ·  PRO-CODE</a:t>
              </a:r>
              <a:endParaRPr lang="en-US" sz="1200" dirty="0"/>
            </a:p>
          </p:txBody>
        </p:sp>
        <p:sp>
          <p:nvSpPr>
            <p:cNvPr id="27" name="Shape 5">
              <a:extLst>
                <a:ext uri="{FF2B5EF4-FFF2-40B4-BE49-F238E27FC236}">
                  <a16:creationId xmlns:a16="http://schemas.microsoft.com/office/drawing/2014/main" id="{2014CD32-DE23-3CC7-336E-0F232C73DE7D}"/>
                </a:ext>
              </a:extLst>
            </p:cNvPr>
            <p:cNvSpPr/>
            <p:nvPr/>
          </p:nvSpPr>
          <p:spPr>
            <a:xfrm>
              <a:off x="1945797" y="1257300"/>
              <a:ext cx="3810000" cy="9525"/>
            </a:xfrm>
            <a:prstGeom prst="rect">
              <a:avLst/>
            </a:prstGeom>
            <a:solidFill>
              <a:srgbClr val="1A2E6E">
                <a:alpha val="25098"/>
              </a:srgbClr>
            </a:solidFill>
            <a:ln/>
          </p:spPr>
          <p:txBody>
            <a:bodyPr/>
            <a:lstStyle/>
            <a:p>
              <a:endParaRPr lang="it-IT" sz="1350"/>
            </a:p>
          </p:txBody>
        </p:sp>
        <p:sp>
          <p:nvSpPr>
            <p:cNvPr id="28" name="Text 6">
              <a:extLst>
                <a:ext uri="{FF2B5EF4-FFF2-40B4-BE49-F238E27FC236}">
                  <a16:creationId xmlns:a16="http://schemas.microsoft.com/office/drawing/2014/main" id="{A6F24FD4-15D9-BD24-F01C-656EA68FC2EF}"/>
                </a:ext>
              </a:extLst>
            </p:cNvPr>
            <p:cNvSpPr/>
            <p:nvPr/>
          </p:nvSpPr>
          <p:spPr>
            <a:xfrm>
              <a:off x="1666875" y="1595437"/>
              <a:ext cx="5524501" cy="1666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50000"/>
                </a:lnSpc>
              </a:pPr>
              <a:r>
                <a:rPr lang="it-IT" sz="1600" dirty="0">
                  <a:solidFill>
                    <a:srgbClr val="1A2E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«Non ho migrato niente e non ho perso niente. Ho esposto un endpoint e ho guadagnato quattro canali. Il feedback loop e il sentiment restano dove stanno vivere.»</a:t>
              </a:r>
              <a:endParaRPr lang="en-US" sz="1200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6368A3-2D04-73B2-A86E-09CB7282EF73}"/>
              </a:ext>
            </a:extLst>
          </p:cNvPr>
          <p:cNvGrpSpPr/>
          <p:nvPr/>
        </p:nvGrpSpPr>
        <p:grpSpPr>
          <a:xfrm>
            <a:off x="166006" y="4365266"/>
            <a:ext cx="3618175" cy="2299749"/>
            <a:chOff x="4778860" y="3524250"/>
            <a:chExt cx="6667501" cy="2476500"/>
          </a:xfrm>
        </p:grpSpPr>
        <p:sp>
          <p:nvSpPr>
            <p:cNvPr id="30" name="Shape 7">
              <a:extLst>
                <a:ext uri="{FF2B5EF4-FFF2-40B4-BE49-F238E27FC236}">
                  <a16:creationId xmlns:a16="http://schemas.microsoft.com/office/drawing/2014/main" id="{D7B8B7C7-7028-9CE8-7D91-5F60296DDBF6}"/>
                </a:ext>
              </a:extLst>
            </p:cNvPr>
            <p:cNvSpPr/>
            <p:nvPr/>
          </p:nvSpPr>
          <p:spPr>
            <a:xfrm>
              <a:off x="4778860" y="3524250"/>
              <a:ext cx="6667501" cy="2476500"/>
            </a:xfrm>
            <a:prstGeom prst="roundRect">
              <a:avLst>
                <a:gd name="adj" fmla="val 8000"/>
              </a:avLst>
            </a:prstGeom>
            <a:solidFill>
              <a:srgbClr val="F0E840">
                <a:alpha val="85098"/>
              </a:srgbClr>
            </a:solidFill>
            <a:ln w="19050">
              <a:solidFill>
                <a:srgbClr val="1A2E6E"/>
              </a:solidFill>
              <a:prstDash val="solid"/>
            </a:ln>
          </p:spPr>
          <p:txBody>
            <a:bodyPr/>
            <a:lstStyle/>
            <a:p>
              <a:endParaRPr lang="it-IT" sz="1350"/>
            </a:p>
          </p:txBody>
        </p:sp>
        <p:sp>
          <p:nvSpPr>
            <p:cNvPr id="31" name="Shape 8">
              <a:extLst>
                <a:ext uri="{FF2B5EF4-FFF2-40B4-BE49-F238E27FC236}">
                  <a16:creationId xmlns:a16="http://schemas.microsoft.com/office/drawing/2014/main" id="{F307F82E-BE6E-6B04-BDA1-A2E015CBAF33}"/>
                </a:ext>
              </a:extLst>
            </p:cNvPr>
            <p:cNvSpPr/>
            <p:nvPr/>
          </p:nvSpPr>
          <p:spPr>
            <a:xfrm>
              <a:off x="10290791" y="3714750"/>
              <a:ext cx="948709" cy="571500"/>
            </a:xfrm>
            <a:prstGeom prst="ellipse">
              <a:avLst/>
            </a:prstGeom>
            <a:solidFill>
              <a:srgbClr val="2A7EC8"/>
            </a:solidFill>
            <a:ln/>
          </p:spPr>
          <p:txBody>
            <a:bodyPr/>
            <a:lstStyle/>
            <a:p>
              <a:endParaRPr lang="it-IT" sz="1350"/>
            </a:p>
          </p:txBody>
        </p:sp>
        <p:sp>
          <p:nvSpPr>
            <p:cNvPr id="32" name="Text 9">
              <a:extLst>
                <a:ext uri="{FF2B5EF4-FFF2-40B4-BE49-F238E27FC236}">
                  <a16:creationId xmlns:a16="http://schemas.microsoft.com/office/drawing/2014/main" id="{B81778FE-226E-F54A-14C8-C72EAF166370}"/>
                </a:ext>
              </a:extLst>
            </p:cNvPr>
            <p:cNvSpPr/>
            <p:nvPr/>
          </p:nvSpPr>
          <p:spPr>
            <a:xfrm>
              <a:off x="10290791" y="3714751"/>
              <a:ext cx="948709" cy="571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00000"/>
                </a:lnSpc>
              </a:pPr>
              <a:r>
                <a:rPr lang="en-US" sz="2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1200" dirty="0"/>
            </a:p>
          </p:txBody>
        </p:sp>
        <p:sp>
          <p:nvSpPr>
            <p:cNvPr id="33" name="Text 10">
              <a:extLst>
                <a:ext uri="{FF2B5EF4-FFF2-40B4-BE49-F238E27FC236}">
                  <a16:creationId xmlns:a16="http://schemas.microsoft.com/office/drawing/2014/main" id="{701FC2D8-8418-5FEB-D357-AFF730122160}"/>
                </a:ext>
              </a:extLst>
            </p:cNvPr>
            <p:cNvSpPr/>
            <p:nvPr/>
          </p:nvSpPr>
          <p:spPr>
            <a:xfrm>
              <a:off x="5000625" y="3714750"/>
              <a:ext cx="5524500" cy="26670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>
                <a:lnSpc>
                  <a:spcPct val="100000"/>
                </a:lnSpc>
              </a:pPr>
              <a:r>
                <a:rPr lang="en-US" sz="1600" b="1" dirty="0">
                  <a:solidFill>
                    <a:srgbClr val="1A2E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Chiara</a:t>
              </a:r>
              <a:r>
                <a:rPr lang="it-IT" sz="1600" dirty="0">
                  <a:solidFill>
                    <a:srgbClr val="1A2E6E"/>
                  </a:solidFill>
                  <a:latin typeface="Calibri" pitchFamily="34" charset="0"/>
                </a:rPr>
                <a:t>  ·  BUSINESS</a:t>
              </a:r>
              <a:endParaRPr lang="en-US" sz="1200" dirty="0"/>
            </a:p>
          </p:txBody>
        </p:sp>
        <p:sp>
          <p:nvSpPr>
            <p:cNvPr id="34" name="Shape 11">
              <a:extLst>
                <a:ext uri="{FF2B5EF4-FFF2-40B4-BE49-F238E27FC236}">
                  <a16:creationId xmlns:a16="http://schemas.microsoft.com/office/drawing/2014/main" id="{3B104550-3244-866A-A16A-E6DD0457BA23}"/>
                </a:ext>
              </a:extLst>
            </p:cNvPr>
            <p:cNvSpPr/>
            <p:nvPr/>
          </p:nvSpPr>
          <p:spPr>
            <a:xfrm>
              <a:off x="5000625" y="4019550"/>
              <a:ext cx="5524500" cy="9525"/>
            </a:xfrm>
            <a:prstGeom prst="rect">
              <a:avLst/>
            </a:prstGeom>
            <a:solidFill>
              <a:srgbClr val="1A2E6E">
                <a:alpha val="25098"/>
              </a:srgbClr>
            </a:solidFill>
            <a:ln/>
          </p:spPr>
          <p:txBody>
            <a:bodyPr/>
            <a:lstStyle/>
            <a:p>
              <a:endParaRPr lang="it-IT" sz="1350"/>
            </a:p>
          </p:txBody>
        </p:sp>
        <p:sp>
          <p:nvSpPr>
            <p:cNvPr id="35" name="Text 12">
              <a:extLst>
                <a:ext uri="{FF2B5EF4-FFF2-40B4-BE49-F238E27FC236}">
                  <a16:creationId xmlns:a16="http://schemas.microsoft.com/office/drawing/2014/main" id="{F16FCE69-4FBE-D7C2-A58C-6972B95E64E0}"/>
                </a:ext>
              </a:extLst>
            </p:cNvPr>
            <p:cNvSpPr/>
            <p:nvPr/>
          </p:nvSpPr>
          <p:spPr>
            <a:xfrm>
              <a:off x="5053316" y="4010969"/>
              <a:ext cx="5052039" cy="1666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ct val="150000"/>
                </a:lnSpc>
              </a:pPr>
              <a:r>
                <a:rPr lang="it-IT" sz="1600" dirty="0">
                  <a:solidFill>
                    <a:srgbClr val="1A2E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«E al CDA rispondiamo sì, su Teams, entro la sprint. La domanda non era migrazione o integrazione: era dove sono i nostri utenti.»</a:t>
              </a:r>
              <a:endParaRPr lang="en-US" sz="1200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L'IA da sola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non trasforma il business. È il sistema che la circonda a farlo.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ow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6272C1-2556-8624-E545-7316B5DC20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rcRect/>
          <a:stretch/>
        </p:blipFill>
        <p:spPr>
          <a:xfrm>
            <a:off x="2978" y="27412"/>
            <a:ext cx="12189021" cy="6803174"/>
          </a:xfrm>
          <a:prstGeom prst="rect">
            <a:avLst/>
          </a:prstGeom>
        </p:spPr>
      </p:pic>
      <p:sp>
        <p:nvSpPr>
          <p:cNvPr id="18" name="Shape 2">
            <a:extLst>
              <a:ext uri="{FF2B5EF4-FFF2-40B4-BE49-F238E27FC236}">
                <a16:creationId xmlns:a16="http://schemas.microsoft.com/office/drawing/2014/main" id="{0AC38D70-51CD-FD93-30A5-6D3DC4D527F9}"/>
              </a:ext>
            </a:extLst>
          </p:cNvPr>
          <p:cNvSpPr/>
          <p:nvPr/>
        </p:nvSpPr>
        <p:spPr>
          <a:xfrm>
            <a:off x="86247" y="3894667"/>
            <a:ext cx="6205461" cy="2833511"/>
          </a:xfrm>
          <a:prstGeom prst="roundRect">
            <a:avLst>
              <a:gd name="adj" fmla="val 6000"/>
            </a:avLst>
          </a:prstGeom>
          <a:solidFill>
            <a:srgbClr val="1A2E6E">
              <a:alpha val="84706"/>
            </a:srgbClr>
          </a:solidFill>
          <a:ln w="25400" cmpd="sng">
            <a:solidFill>
              <a:srgbClr val="F0E840"/>
            </a:solidFill>
            <a:prstDash val="solid"/>
          </a:ln>
        </p:spPr>
        <p:txBody>
          <a:bodyPr/>
          <a:lstStyle/>
          <a:p>
            <a:endParaRPr lang="it-IT" sz="2000"/>
          </a:p>
        </p:txBody>
      </p:sp>
      <p:sp>
        <p:nvSpPr>
          <p:cNvPr id="3" name="TextBox 2"/>
          <p:cNvSpPr txBox="1"/>
          <p:nvPr/>
        </p:nvSpPr>
        <p:spPr>
          <a:xfrm>
            <a:off x="10239133" y="162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E5FF"/>
                </a:solidFill>
              </a:defRPr>
            </a:pPr>
            <a:endParaRPr/>
          </a:p>
        </p:txBody>
      </p:sp>
      <p:sp>
        <p:nvSpPr>
          <p:cNvPr id="19" name="Rounded Rectangular Callout 119">
            <a:extLst>
              <a:ext uri="{FF2B5EF4-FFF2-40B4-BE49-F238E27FC236}">
                <a16:creationId xmlns:a16="http://schemas.microsoft.com/office/drawing/2014/main" id="{2C927836-A4F4-565D-82A9-09DE73AE33B2}"/>
              </a:ext>
            </a:extLst>
          </p:cNvPr>
          <p:cNvSpPr/>
          <p:nvPr/>
        </p:nvSpPr>
        <p:spPr>
          <a:xfrm>
            <a:off x="4003680" y="254855"/>
            <a:ext cx="2807474" cy="607803"/>
          </a:xfrm>
          <a:prstGeom prst="wedgeRoundRectCallout">
            <a:avLst>
              <a:gd name="adj1" fmla="val 33360"/>
              <a:gd name="adj2" fmla="val 167301"/>
              <a:gd name="adj3" fmla="val 16667"/>
            </a:avLst>
          </a:prstGeom>
          <a:solidFill>
            <a:srgbClr val="F0E840">
              <a:alpha val="74902"/>
            </a:srgbClr>
          </a:solidFill>
          <a:ln w="19050">
            <a:solidFill>
              <a:srgbClr val="1A2E6E"/>
            </a:solidFill>
          </a:ln>
        </p:spPr>
        <p:txBody>
          <a:bodyPr rtlCol="0" anchor="ctr"/>
          <a:lstStyle/>
          <a:p>
            <a:pPr algn="ctr"/>
            <a:r>
              <a:rPr lang="it-IT" b="1" dirty="0">
                <a:solidFill>
                  <a:srgbClr val="1A2E6E"/>
                </a:solidFill>
                <a:latin typeface="Calibri"/>
              </a:rPr>
              <a:t>Q&amp;A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029589-FB6F-E3D9-B675-9A0D3B4369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98946" y="5071739"/>
            <a:ext cx="1467332" cy="1510956"/>
          </a:xfrm>
          <a:prstGeom prst="rect">
            <a:avLst/>
          </a:prstGeom>
        </p:spPr>
      </p:pic>
      <p:pic>
        <p:nvPicPr>
          <p:cNvPr id="13" name="Picture 12" descr="avatar_placeholder.png">
            <a:extLst>
              <a:ext uri="{FF2B5EF4-FFF2-40B4-BE49-F238E27FC236}">
                <a16:creationId xmlns:a16="http://schemas.microsoft.com/office/drawing/2014/main" id="{482D875E-F9DC-B01C-0173-49D093392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895" y="4154543"/>
            <a:ext cx="740118" cy="740118"/>
          </a:xfrm>
          <a:prstGeom prst="ellipse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30AAFF1-F6ED-8F0A-A181-E0C3FF4F4CBC}"/>
              </a:ext>
            </a:extLst>
          </p:cNvPr>
          <p:cNvSpPr txBox="1"/>
          <p:nvPr/>
        </p:nvSpPr>
        <p:spPr>
          <a:xfrm>
            <a:off x="1934740" y="4013168"/>
            <a:ext cx="437472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</a:defRPr>
            </a:pPr>
            <a:r>
              <a:rPr lang="it-IT" sz="4000" dirty="0">
                <a:solidFill>
                  <a:srgbClr val="FFFFFF"/>
                </a:solidFill>
                <a:latin typeface="Calibri"/>
              </a:rPr>
              <a:t>Antonio Pierascenzi</a:t>
            </a:r>
            <a:endParaRPr sz="4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A4F528-D45E-382F-2650-496B801B55C5}"/>
              </a:ext>
            </a:extLst>
          </p:cNvPr>
          <p:cNvSpPr txBox="1"/>
          <p:nvPr/>
        </p:nvSpPr>
        <p:spPr>
          <a:xfrm>
            <a:off x="1949845" y="4676691"/>
            <a:ext cx="447507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3A4B7"/>
                </a:solidFill>
              </a:defRPr>
            </a:pPr>
            <a:r>
              <a:rPr lang="it-IT" sz="2400" dirty="0">
                <a:solidFill>
                  <a:srgbClr val="FFFFFF"/>
                </a:solidFill>
                <a:latin typeface="Calibri"/>
              </a:rPr>
              <a:t>Solution Architect @Magneticode</a:t>
            </a:r>
            <a:r>
              <a:rPr sz="2400" dirty="0">
                <a:solidFill>
                  <a:srgbClr val="FFFFFF"/>
                </a:solidFill>
                <a:latin typeface="Calibri"/>
              </a:rPr>
              <a:t> </a:t>
            </a:r>
            <a:endParaRPr lang="it-IT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DF07C0-6E53-D553-D018-C3D24A41526B}"/>
              </a:ext>
            </a:extLst>
          </p:cNvPr>
          <p:cNvSpPr txBox="1"/>
          <p:nvPr/>
        </p:nvSpPr>
        <p:spPr>
          <a:xfrm>
            <a:off x="1949540" y="5465418"/>
            <a:ext cx="4953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7FA"/>
                </a:solidFill>
              </a:defRPr>
            </a:pPr>
            <a:r>
              <a:rPr lang="it-IT" sz="2400" dirty="0">
                <a:solidFill>
                  <a:srgbClr val="FFFFFF"/>
                </a:solidFill>
                <a:latin typeface="Calibri"/>
              </a:rPr>
              <a:t>@pythonyan</a:t>
            </a:r>
          </a:p>
        </p:txBody>
      </p:sp>
      <p:sp>
        <p:nvSpPr>
          <p:cNvPr id="5" name="Rounded Rectangular Callout 119">
            <a:extLst>
              <a:ext uri="{FF2B5EF4-FFF2-40B4-BE49-F238E27FC236}">
                <a16:creationId xmlns:a16="http://schemas.microsoft.com/office/drawing/2014/main" id="{68EE8397-6B9A-BA2F-DE49-A2876C28AC42}"/>
              </a:ext>
            </a:extLst>
          </p:cNvPr>
          <p:cNvSpPr/>
          <p:nvPr/>
        </p:nvSpPr>
        <p:spPr>
          <a:xfrm>
            <a:off x="8470627" y="460000"/>
            <a:ext cx="2807474" cy="1250000"/>
          </a:xfrm>
          <a:prstGeom prst="wedgeRoundRectCallout">
            <a:avLst>
              <a:gd name="adj1" fmla="val -64933"/>
              <a:gd name="adj2" fmla="val 99650"/>
              <a:gd name="adj3" fmla="val 16667"/>
            </a:avLst>
          </a:prstGeom>
          <a:solidFill>
            <a:srgbClr val="F0E840">
              <a:alpha val="74902"/>
            </a:srgbClr>
          </a:solidFill>
          <a:ln w="19050">
            <a:solidFill>
              <a:srgbClr val="1A2E6E"/>
            </a:solidFill>
          </a:ln>
        </p:spPr>
        <p:txBody>
          <a:bodyPr rtlCol="0" anchor="ctr"/>
          <a:lstStyle/>
          <a:p>
            <a:pPr algn="ctr"/>
            <a:r>
              <a:rPr lang="it-IT" b="1" dirty="0">
                <a:solidFill>
                  <a:srgbClr val="1A2E6E"/>
                </a:solidFill>
                <a:latin typeface="Calibri"/>
              </a:rPr>
              <a:t>Grazie</a:t>
            </a:r>
          </a:p>
          <a:p>
            <a:pPr algn="ctr"/>
            <a:r>
              <a:rPr lang="it-IT" b="1" dirty="0">
                <a:solidFill>
                  <a:srgbClr val="1A2E6E"/>
                </a:solidFill>
                <a:latin typeface="Calibri"/>
              </a:rPr>
              <a:t>Da Davide, Chiara e il nostro Coppy. E ora tocca a voi.</a:t>
            </a:r>
          </a:p>
        </p:txBody>
      </p:sp>
    </p:spTree>
    <p:extLst>
      <p:ext uri="{BB962C8B-B14F-4D97-AF65-F5344CB8AC3E}">
        <p14:creationId xmlns:p14="http://schemas.microsoft.com/office/powerpoint/2010/main" val="40846975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5" grpId="0" animBg="1"/>
    </p:bldLst>
  </p:timing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AD40345-3436-436C-8B18-1A015102CF97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f1716170-71b6-49c2-b8c6-48b9376c333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2027</TotalTime>
  <Words>2434</Words>
  <Application>Microsoft Office PowerPoint</Application>
  <PresentationFormat>Widescreen</PresentationFormat>
  <Paragraphs>620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Custom Design</vt:lpstr>
      <vt:lpstr>Office Theme</vt:lpstr>
      <vt:lpstr>MULTICANALITÀ E PIATTAFORME AGENTICHE</vt:lpstr>
      <vt:lpstr>PowerPoint Presentation</vt:lpstr>
      <vt:lpstr>Scenario</vt:lpstr>
      <vt:lpstr>«Portarlo su Teams» sono tre progetti diversi</vt:lpstr>
      <vt:lpstr>IL SISTEMA CHE ABBIAMO COSTRUITO</vt:lpstr>
      <vt:lpstr>STACK TECNOLOGICO</vt:lpstr>
      <vt:lpstr>SOTTO IL COFANO</vt:lpstr>
      <vt:lpstr>Multicanalità non è un canale in più</vt:lpstr>
      <vt:lpstr>DEMO</vt:lpstr>
      <vt:lpstr> </vt:lpstr>
      <vt:lpstr>LA PIATTAFORMA</vt:lpstr>
      <vt:lpstr>Vi presento Coppy</vt:lpstr>
      <vt:lpstr>DA POWER VIRTUAL AGENTS AD AGENT 365</vt:lpstr>
      <vt:lpstr>TRE MOTORI SOTTO LO STESSO BUILDER</vt:lpstr>
      <vt:lpstr>CHE COS'È COPILOT STUDIO</vt:lpstr>
      <vt:lpstr>DOVE VIVE NELLO STACK</vt:lpstr>
      <vt:lpstr>AGENT 365 — IL PIANO DI CONTROLLO</vt:lpstr>
      <vt:lpstr>Il conto della multicanalità</vt:lpstr>
      <vt:lpstr>Anatomia di un agent, col parallelo al codice</vt:lpstr>
      <vt:lpstr>RAG A MANO, RAG DI PIATTAFORMA</vt:lpstr>
      <vt:lpstr>SEI DIMENSIONI, DUE RISPOSTE</vt:lpstr>
      <vt:lpstr>Replicare il flusso, con i trade-off in chiaro</vt:lpstr>
      <vt:lpstr>DEMO</vt:lpstr>
      <vt:lpstr>DEPLOY, ALM E GOVERNANCE</vt:lpstr>
      <vt:lpstr>Migra, integra, o resta</vt:lpstr>
      <vt:lpstr>Otto scenari</vt:lpstr>
      <vt:lpstr>L'architettura ibrida</vt:lpstr>
      <vt:lpstr>Come ci si arriva, in tre passi</vt:lpstr>
      <vt:lpstr> </vt:lpstr>
      <vt:lpstr>PowerPoint Presentation</vt:lpstr>
      <vt:lpstr>L'IA da sola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Marco Parenzan</dc:creator>
  <cp:lastModifiedBy>Antonio Pierascenzi</cp:lastModifiedBy>
  <cp:revision>44</cp:revision>
  <dcterms:created xsi:type="dcterms:W3CDTF">2024-03-28T18:28:31Z</dcterms:created>
  <dcterms:modified xsi:type="dcterms:W3CDTF">2026-09-28T20:23:26Z</dcterms:modified>
</cp:coreProperties>
</file>